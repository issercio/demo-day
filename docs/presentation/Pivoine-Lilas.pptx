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2000" cy="68580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image" Target="../media/image6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jpg"/><Relationship Id="rId3" Type="http://schemas.openxmlformats.org/officeDocument/2006/relationships/image" Target="../media/image8.jpg"/><Relationship Id="rId4" Type="http://schemas.openxmlformats.org/officeDocument/2006/relationships/image" Target="../media/image9.jpg"/><Relationship Id="rId5" Type="http://schemas.openxmlformats.org/officeDocument/2006/relationships/image" Target="../media/image10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image" Target="../media/image13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 b="1">
                <a:solidFill>
                  <a:srgbClr val="3A2A30"/>
                </a:solidFill>
                <a:latin typeface="Arial"/>
              </a:rPr>
              <a:t>Pivoine &amp; Lilas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800" b="0">
                <a:solidFill>
                  <a:srgbClr val="6C4A58"/>
                </a:solidFill>
                <a:latin typeface="Arial"/>
              </a:rPr>
              <a:t>FLORIST  ·  SCIEZ / LÉMAN  ·  DEMO DAY</a:t>
            </a:r>
          </a:p>
          <a:p>
            <a:r>
              <a:rPr sz="1800" b="0">
                <a:solidFill>
                  <a:srgbClr val="6C4A58"/>
                </a:solidFill>
                <a:latin typeface="Arial"/>
              </a:rPr>
              <a:t>The boutique that still sells after closing time.</a:t>
            </a:r>
          </a:p>
          <a:p>
            <a:r>
              <a:rPr sz="1800" b="0">
                <a:solidFill>
                  <a:srgbClr val="6C4A58"/>
                </a:solidFill>
                <a:latin typeface="Arial"/>
              </a:rPr>
              <a:t>Dimitri Jaille &amp; Mattieu Mouroux  ·  Flask, JWT, Decimal checkout, printable invoices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3A2A30"/>
                </a:solidFill>
                <a:latin typeface="Arial"/>
              </a:rPr>
              <a:t>Team, roles, decisions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234440"/>
          <a:ext cx="1133856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79520"/>
                <a:gridCol w="3779520"/>
                <a:gridCol w="3779520"/>
              </a:tblGrid>
              <a:tr h="1706880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Name</a:t>
                      </a:r>
                    </a:p>
                  </a:txBody>
                  <a:tcPr>
                    <a:solidFill>
                      <a:srgbClr val="BC62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Role</a:t>
                      </a:r>
                    </a:p>
                  </a:txBody>
                  <a:tcPr>
                    <a:solidFill>
                      <a:srgbClr val="BC62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Owns</a:t>
                      </a:r>
                    </a:p>
                  </a:txBody>
                  <a:tcPr>
                    <a:solidFill>
                      <a:srgbClr val="BC6288"/>
                    </a:solidFill>
                  </a:tcPr>
                </a:tc>
              </a:tr>
              <a:tr h="17068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Dimitri Jaille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Backend lead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API, SQLAlchemy, JWT, checkout, tests, HTTPS, lockout</a:t>
                      </a:r>
                    </a:p>
                  </a:txBody>
                  <a:tcPr/>
                </a:tc>
              </a:tr>
              <a:tr h="17068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Mattieu Mouroux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Frontend &amp; Demo Day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Jinja/CSS/JS, stories, deck, live demo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3A2A30"/>
                </a:solidFill>
                <a:latin typeface="Arial"/>
              </a:rPr>
              <a:t>How we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Communication: GitHub commits/PRs every day; 15–30 min sync before each demo.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Decisions: Mattieu on UI copy; Dimitri on money/auth. Cuts (email, geo, HT/TVA) are written as missing stories — never hidden.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Evidence: github.com/Issercio/Demo-day · ./run-tests.sh (92 tests).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Google Slides: upload this .pptx to Drive → Open with Google Slides (Arial, JPEG, 16:9, title/content layouts).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3A2A30"/>
                </a:solidFill>
                <a:latin typeface="Arial"/>
              </a:rPr>
              <a:t>Problem — who suffers, and how we know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The Sciez shop still sold after 19:00, but the Wix site was a brochure — no cart, no pay, no catalog the florist could update.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Users: Marie (last-minute birthday), Léa (subscription), Camille the florist (atelier + vitrine).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Pain: phone orders without line items; Instagram instead of a catalog; shared demo carts; no workshop status.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Evidence: Wix observation, classroom bugs we actually fixed (empty checkout, bcrypt Marie, client prices), Interflora already takes cards after hours.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3A2A30"/>
                </a:solidFill>
                <a:latin typeface="Arial"/>
              </a:rPr>
              <a:t>Solution — one shop, server-owned prices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Responsive Flask shop: catalog with photos, private cart, checkout, 30 % deposit, subscriptions, Mes commandes.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Florist desk: CRUD + photo upload, season/event vitrine combo, FAC invoices, prep À préparer → Remise.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Value: buy after closing time; florist sees payment and the atelier; Demo Day runs without Stripe secrets (4242).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MVP boundary: a paid photographed bouquet + a florist invoice. Not in MVP: email verify, customer password form, geo, click-and-collect, fiscal HT/TVA.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3A2A30"/>
                </a:solidFill>
                <a:latin typeface="Arial"/>
              </a:rPr>
              <a:t>Technologies we can defend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Arial"/>
              </a:defRPr>
            </a:pPr>
            <a:r>
              <a:t>Frontend: Jinja2 + vanilla JS, custom CSS (florist pink), localStorage cart per account.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Arial"/>
              </a:defRPr>
            </a:pPr>
            <a:r>
              <a:t>Backend: Flask 3 + RESTX Swagger, SQLAlchemy 2 Numeric money, JWT HS256, roles from DB.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Arial"/>
              </a:defRPr>
            </a:pPr>
            <a:r>
              <a:t>Payments: test cards or Stripe API. Photos on disk. unittest + coverage (92 tests).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Arial"/>
              </a:defRPr>
            </a:pPr>
            <a:r>
              <a:t>TLS: ./run-https.sh self-signed, FORCE_HTTPS=1 behind a reverse proxy.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Arial"/>
              </a:defRPr>
            </a:pPr>
            <a:r>
              <a:t>Why not React: two people, one process, 20-minute demo. Why SQLite: classroom machines. Why Decimal: euros are not floats.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3A2A30"/>
                </a:solidFill>
                <a:latin typeface="Arial"/>
              </a:rPr>
              <a:t>User stories that actually run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234440"/>
          <a:ext cx="1133856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79520"/>
                <a:gridCol w="3779520"/>
                <a:gridCol w="3779520"/>
              </a:tblGrid>
              <a:tr h="568960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Role</a:t>
                      </a:r>
                    </a:p>
                  </a:txBody>
                  <a:tcPr>
                    <a:solidFill>
                      <a:srgbClr val="BC62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Story</a:t>
                      </a:r>
                    </a:p>
                  </a:txBody>
                  <a:tcPr>
                    <a:solidFill>
                      <a:srgbClr val="BC62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Prio</a:t>
                      </a:r>
                    </a:p>
                  </a:txBody>
                  <a:tcPr>
                    <a:solidFill>
                      <a:srgbClr val="BC6288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Customer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Register, login, logout, JWT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Must</a:t>
                      </a:r>
                    </a:p>
                  </a:txBody>
                  <a:tcPr/>
                </a:tc>
              </a:tr>
              <a:tr h="5689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Customer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Browse photos, filter colour/price/name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Must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Customer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Cart isolated per account + pay (4242 / deposit)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Must</a:t>
                      </a:r>
                    </a:p>
                  </a:txBody>
                  <a:tcPr/>
                </a:tc>
              </a:tr>
              <a:tr h="5689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Customer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Track order on Mes commandes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Should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Customer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Subscribe Éclat Mensuel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Should</a:t>
                      </a:r>
                    </a:p>
                  </a:txBody>
                  <a:tcPr/>
                </a:tc>
              </a:tr>
              <a:tr h="5689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Florist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CRUD catalog + upload photo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Must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Florist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Vitrine season / theme / combo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Could</a:t>
                      </a:r>
                    </a:p>
                  </a:txBody>
                  <a:tcPr/>
                </a:tc>
              </a:tr>
              <a:tr h="5689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Florist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Printable FAC invoice + atelier prep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Must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3A2A30"/>
                </a:solidFill>
                <a:latin typeface="Arial"/>
              </a:rPr>
              <a:t>Missing on purpose — specified, not shipped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234440"/>
          <a:ext cx="1133856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79520"/>
                <a:gridCol w="3779520"/>
                <a:gridCol w="3779520"/>
              </a:tblGrid>
              <a:tr h="853440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Story</a:t>
                      </a:r>
                    </a:p>
                  </a:txBody>
                  <a:tcPr>
                    <a:solidFill>
                      <a:srgbClr val="BC62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Why cut</a:t>
                      </a:r>
                    </a:p>
                  </a:txBody>
                  <a:tcPr>
                    <a:solidFill>
                      <a:srgbClr val="BC62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Today</a:t>
                      </a:r>
                    </a:p>
                  </a:txBody>
                  <a:tcPr>
                    <a:solidFill>
                      <a:srgbClr val="BC6288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Click-and-collect slot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Time-box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Paid order, no window</a:t>
                      </a:r>
                    </a:p>
                  </a:txBody>
                  <a:tcPr/>
                </a:tc>
              </a:tr>
              <a:tr h="8534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Delivery zones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No geo table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Not modelled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Homepage CMS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Vitrine is the shop window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accueil is a template</a:t>
                      </a:r>
                    </a:p>
                  </a:txBody>
                  <a:tcPr/>
                </a:tc>
              </a:tr>
              <a:tr h="8534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HT + TVA invoice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CGV has no VAT regime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TTC demo FAC only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Reviews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Model leftover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API not mounted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3A2A30"/>
                </a:solidFill>
                <a:latin typeface="Arial"/>
              </a:rPr>
              <a:t>MoSCoW / MVP — if everything is Must, nothing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Arial"/>
              </a:defRPr>
            </a:pPr>
            <a:r>
              <a:t>Must: auth, catalog+photos, isolated cart, server checkout, admin guard, florist invoice/prep, HTTPS, CNIL lockout, email/SMS verify, customer password change.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Arial"/>
              </a:defRPr>
            </a:pPr>
            <a:r>
              <a:t>Should: subscriptions, 30 % deposit, Mes commandes, shop filters.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Arial"/>
              </a:defRPr>
            </a:pPr>
            <a:r>
              <a:t>Could: vitrine combos, custom event themes, optional Stripe, print window.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Arial"/>
              </a:defRPr>
            </a:pPr>
            <a:r>
              <a:t>Won’t: native app, chat, AI, 2FA, OAuth, geo, fiscal TVA.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Arial"/>
              </a:defRPr>
            </a:pPr>
            <a:r>
              <a:t>MVP green: Marie pays for Bouquet Pivoine; Camille opens FAC-YYYY-NNNN and moves À préparer.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3A2A30"/>
                </a:solidFill>
                <a:latin typeface="Arial"/>
              </a:rPr>
              <a:t>Bugs and limitations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Fixed: empty checkout, Marie bcrypt lockout, cart leak, client prices, float money, navbar overlay, season picker on home, stolen PI on checkout, XSS tester index.html.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Open (honest): reviews API unmounted, cart in localStorage, unused prices table, no public production host, JWT in localStorage (XSS residual), invoices are TTC demo docs. Verification/reset use classroom demo_code unless MAIL_SERVER is set.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None of the open items block a purchase on Demo Day.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3A2A30"/>
                </a:solidFill>
                <a:latin typeface="Arial"/>
              </a:rPr>
              <a:t>Architecture — the server owns the price</a:t>
            </a:r>
          </a:p>
        </p:txBody>
      </p:sp>
      <p:pic>
        <p:nvPicPr>
          <p:cNvPr id="3" name="Picture 2" descr="architectu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143000"/>
            <a:ext cx="11155680" cy="525542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3A2A30"/>
                </a:solidFill>
                <a:latin typeface="Arial"/>
              </a:rPr>
              <a:t>Database ERD — cardinalities, PKs, FKs, money</a:t>
            </a:r>
          </a:p>
        </p:txBody>
      </p:sp>
      <p:pic>
        <p:nvPicPr>
          <p:cNvPr id="3" name="Picture 2" descr="e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0" y="1097280"/>
            <a:ext cx="5943600" cy="528579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3A2A30"/>
                </a:solidFill>
                <a:latin typeface="Arial"/>
              </a:rPr>
              <a:t>UML — use cases and domain classes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Actors: Guest (browse/pay as guest) · Customer (JWT, track, delete account) · Florist (CRUD, vitrine, FAC, prep).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Classes: User, Category, Product, Order, OrderItem, ShopTheme, ThemeProduct, ShopVitrine.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User 1—* Order · Category 1—* Product · Order 1—* OrderItem · Theme *—* Product.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Open live: User.check_password (Werkzeug + bcrypt, plaintext refused) and checkout_service.build_order_lines.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3A2A30"/>
                </a:solidFill>
                <a:latin typeface="Arial"/>
              </a:rPr>
              <a:t>Sequence — Marie pays with 4242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1. Checkout submits email, card, items[{product_id, quantity}] — no price field trusted.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2. POST /api/v1/payments/checkout  ·  JWT optional (logged-in email overwrites the body).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3. SQL SELECT Product.price  →  Decimal total  →  Luhn test card.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4. 4242 INSERT order paid + prep a_preparer · 0002 → 402 failed, no atelier.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5. 201 JSON without Stripe PI  ·  UI → commandes.html#order-id  ·  florist sees FAC.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3A2A30"/>
                </a:solidFill>
                <a:latin typeface="Arial"/>
              </a:rPr>
              <a:t>Security NFR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1600">
                <a:solidFill>
                  <a:srgbClr val="3A2A30"/>
                </a:solidFill>
                <a:latin typeface="Arial"/>
              </a:defRPr>
            </a:pPr>
            <a:r>
              <a:t>SQLi: ORM + bound params. Hashing: PBKDF2 + bcrypt verify. Plaintext compare = false.</a:t>
            </a:r>
          </a:p>
          <a:p>
            <a:pPr>
              <a:spcAft>
                <a:spcPts val="800"/>
              </a:spcAft>
              <a:defRPr sz="1600">
                <a:solidFill>
                  <a:srgbClr val="3A2A30"/>
                </a:solidFill>
                <a:latin typeface="Arial"/>
              </a:defRPr>
            </a:pPr>
            <a:r>
              <a:t>JWT in Bearer; is_admin from the users table; placeholder SECRET_KEY refused.</a:t>
            </a:r>
          </a:p>
          <a:p>
            <a:pPr>
              <a:spcAft>
                <a:spcPts val="800"/>
              </a:spcAft>
              <a:defRPr sz="1600">
                <a:solidFill>
                  <a:srgbClr val="3A2A30"/>
                </a:solidFill>
                <a:latin typeface="Arial"/>
              </a:defRPr>
            </a:pPr>
            <a:r>
              <a:t>IDOR: orders owner/admin; confirm-payment owner; spoofed checkout email ignored.</a:t>
            </a:r>
          </a:p>
          <a:p>
            <a:pPr>
              <a:spcAft>
                <a:spcPts val="800"/>
              </a:spcAft>
              <a:defRPr sz="1600">
                <a:solidFill>
                  <a:srgbClr val="3A2A30"/>
                </a:solidFill>
                <a:latin typeface="Arial"/>
              </a:defRPr>
            </a:pPr>
            <a:r>
              <a:t>XSS: escapeHtml; #rrggbb colours only. Uploads admin, type allow-list, 4 MB.</a:t>
            </a:r>
          </a:p>
          <a:p>
            <a:pPr>
              <a:spcAft>
                <a:spcPts val="800"/>
              </a:spcAft>
              <a:defRPr sz="1600">
                <a:solidFill>
                  <a:srgbClr val="3A2A30"/>
                </a:solidFill>
                <a:latin typeface="Arial"/>
              </a:defRPr>
            </a:pPr>
            <a:r>
              <a:t>TLS: ./run-https.sh self-signed; FORCE_HTTPS=1 301 + X-Forwarded-Proto. No PAN. .env not in Git.</a:t>
            </a:r>
          </a:p>
          <a:p>
            <a:pPr>
              <a:spcAft>
                <a:spcPts val="800"/>
              </a:spcAft>
              <a:defRPr sz="1600">
                <a:solidFill>
                  <a:srgbClr val="3A2A30"/>
                </a:solidFill>
                <a:latin typeface="Arial"/>
              </a:defRPr>
            </a:pPr>
            <a:r>
              <a:t>CNIL: 5 failed logins → 429 for 15 minutes. Email/SMS verify + customer password change ship (6-digit code).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3A2A30"/>
                </a:solidFill>
                <a:latin typeface="Arial"/>
              </a:rPr>
              <a:t>Collaboration — GitHub flow, board, evidence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main = demo. Feature branch → tests → PR → merge. Commits in English, imperative.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Board: docs/board.md columns Backlog / In progress / Review / Done. GitHub Projects is not enabled (API 403).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Review: no secrets, story matches, responsive if UI, tests updated.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Evidence to open: GitHub history, docs/test-evidence, docs/screenshots, Swagger /api/v1, /maquettes/.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3A2A30"/>
                </a:solidFill>
                <a:latin typeface="Arial"/>
              </a:rPr>
              <a:t>Testing — 92 tests OK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Arial"/>
              </a:defRPr>
            </a:pPr>
            <a:r>
              <a:t>unittest + Flask test_client + sqlite://  ·  ./run-tests.sh  ·  coverage on app.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Arial"/>
              </a:defRPr>
            </a:pPr>
            <a:r>
              <a:t>Covered: hashing, demo seed, admin vs Marie, uploads, checkout 4242/0002/9995, deposit, tracking, combo vitrine, forged JWT, PI rejected on checkout, HTTPS redirect, CNIL lockout.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Arial"/>
              </a:defRPr>
            </a:pPr>
            <a:r>
              <a:t>Not covered: Playwright e2e, live Stripe network, email, load.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Arial"/>
              </a:defRPr>
            </a:pPr>
            <a:r>
              <a:t>Manual M1–M10 in docs/testing.md. Bugs we found are in the spec, with Fixed/Open.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3A2A30"/>
                </a:solidFill>
                <a:latin typeface="Arial"/>
              </a:rPr>
              <a:t>Challenges — technical and non-technical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234440"/>
          <a:ext cx="1133856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79520"/>
                <a:gridCol w="3779520"/>
                <a:gridCol w="3779520"/>
              </a:tblGrid>
              <a:tr h="731520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Challenge</a:t>
                      </a:r>
                    </a:p>
                  </a:txBody>
                  <a:tcPr>
                    <a:solidFill>
                      <a:srgbClr val="BC62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Kind</a:t>
                      </a:r>
                    </a:p>
                  </a:txBody>
                  <a:tcPr>
                    <a:solidFill>
                      <a:srgbClr val="BC62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Resolution</a:t>
                      </a:r>
                    </a:p>
                  </a:txBody>
                  <a:tcPr>
                    <a:solidFill>
                      <a:srgbClr val="BC6288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Cart identity / empty checkout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Tech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FloraCart + snapshot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Mixed password hashes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Tech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Werkzeug + bcrypt; plaintext refused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No Stripe keys in class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Tech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Test cards when env empty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float euros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Tech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Decimal + Numeric(10,2)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Rebuild all of Wix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Cut CMS/geo/email; keep purchase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20 minutes including demo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Org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Timed Marie story; skip decline if late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3A2A30"/>
                </a:solidFill>
                <a:latin typeface="Arial"/>
              </a:rPr>
              <a:t>Next and learned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Improve next: server-side cart, click-and-collect + zones, real email, customer password form, hosted HTTPS, Playwright + Postgres in CI.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Learned: never trust a browser price; decimals for money; legacy hashes or Marie locks; empty Stripe must not crash; secrets stay out of Git.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A demo is a story, not a click tour. Missing stories must be listed. Each of us can explain the shared checkout.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3A2A30"/>
                </a:solidFill>
                <a:latin typeface="Arial"/>
              </a:rPr>
              <a:t>Live demo — Friday 23:00, Marie forgot her mother’s birthday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234440"/>
          <a:ext cx="1133856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79520"/>
                <a:gridCol w="3779520"/>
                <a:gridCol w="3779520"/>
              </a:tblGrid>
              <a:tr h="640080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Beat</a:t>
                      </a:r>
                    </a:p>
                  </a:txBody>
                  <a:tcPr>
                    <a:solidFill>
                      <a:srgbClr val="BC62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On screen</a:t>
                      </a:r>
                    </a:p>
                  </a:txBody>
                  <a:tcPr>
                    <a:solidFill>
                      <a:srgbClr val="BC62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What happens</a:t>
                      </a:r>
                    </a:p>
                  </a:txBody>
                  <a:tcPr>
                    <a:solidFill>
                      <a:srgbClr val="BC628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Home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Boutique open online. Street shop is dark.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Admin vitrine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Camille applies Printemps + Mariage. Shop follows.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Shop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Marie filters, adds Bouquet Pivoine (photo).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Account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marie@test.com / marie123. Cart is hers.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Checkout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4242. Server total. Payée + À préparer.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Mes commandes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Detail, last4, stepper read-only.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Facture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Camille: FAC, TTC lines, Imprimer, prep → Remise.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3A2A30"/>
                </a:solidFill>
                <a:latin typeface="Arial"/>
              </a:rPr>
              <a:t>Maquette — desktop palette, accueil, shop, paiement</a:t>
            </a:r>
          </a:p>
        </p:txBody>
      </p:sp>
      <p:pic>
        <p:nvPicPr>
          <p:cNvPr id="3" name="Picture 2" descr="mockup-palet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2743200" cy="397763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20040" y="5157216"/>
            <a:ext cx="2743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BC6288"/>
                </a:solidFill>
                <a:latin typeface="Arial"/>
              </a:rPr>
              <a:t>Système visuel</a:t>
            </a:r>
          </a:p>
        </p:txBody>
      </p:sp>
      <p:pic>
        <p:nvPicPr>
          <p:cNvPr id="5" name="Picture 4" descr="mockup-accue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120" y="1143000"/>
            <a:ext cx="2743200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46120" y="5157216"/>
            <a:ext cx="2743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BC6288"/>
                </a:solidFill>
                <a:latin typeface="Arial"/>
              </a:rPr>
              <a:t>Accueil</a:t>
            </a:r>
          </a:p>
        </p:txBody>
      </p:sp>
      <p:pic>
        <p:nvPicPr>
          <p:cNvPr id="7" name="Picture 6" descr="mockup-shop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143000"/>
            <a:ext cx="2743200" cy="397763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72200" y="5157216"/>
            <a:ext cx="2743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BC6288"/>
                </a:solidFill>
                <a:latin typeface="Arial"/>
              </a:rPr>
              <a:t>Shop</a:t>
            </a:r>
          </a:p>
        </p:txBody>
      </p:sp>
      <p:pic>
        <p:nvPicPr>
          <p:cNvPr id="9" name="Picture 8" descr="mockup-checkout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98280" y="1143000"/>
            <a:ext cx="2743200" cy="397763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098280" y="5157216"/>
            <a:ext cx="2743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BC6288"/>
                </a:solidFill>
                <a:latin typeface="Arial"/>
              </a:rPr>
              <a:t>Paiement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3A2A30"/>
                </a:solidFill>
                <a:latin typeface="Arial"/>
              </a:rPr>
              <a:t>Maquette — panier, commandes, facture, mobile</a:t>
            </a:r>
          </a:p>
        </p:txBody>
      </p:sp>
      <p:pic>
        <p:nvPicPr>
          <p:cNvPr id="3" name="Picture 2" descr="mockup-pani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2743200" cy="397763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20040" y="5157216"/>
            <a:ext cx="2743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BC6288"/>
                </a:solidFill>
                <a:latin typeface="Arial"/>
              </a:rPr>
              <a:t>Panier</a:t>
            </a:r>
          </a:p>
        </p:txBody>
      </p:sp>
      <p:pic>
        <p:nvPicPr>
          <p:cNvPr id="5" name="Picture 4" descr="mockup-command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120" y="1143000"/>
            <a:ext cx="2743200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46120" y="5157216"/>
            <a:ext cx="2743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BC6288"/>
                </a:solidFill>
                <a:latin typeface="Arial"/>
              </a:rPr>
              <a:t>Mes commandes</a:t>
            </a:r>
          </a:p>
        </p:txBody>
      </p:sp>
      <p:pic>
        <p:nvPicPr>
          <p:cNvPr id="7" name="Picture 6" descr="mockup-admin-factur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143000"/>
            <a:ext cx="2743200" cy="397763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72200" y="5157216"/>
            <a:ext cx="2743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BC6288"/>
                </a:solidFill>
                <a:latin typeface="Arial"/>
              </a:rPr>
              <a:t>Facture FAC</a:t>
            </a:r>
          </a:p>
        </p:txBody>
      </p:sp>
      <p:pic>
        <p:nvPicPr>
          <p:cNvPr id="9" name="Picture 8" descr="mockup-shop-mobil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9720" y="1097280"/>
            <a:ext cx="2606040" cy="4617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189720" y="5751576"/>
            <a:ext cx="2606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BC6288"/>
                </a:solidFill>
                <a:latin typeface="Arial"/>
              </a:rPr>
              <a:t>Shop mobile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3A2A30"/>
                </a:solidFill>
                <a:latin typeface="Arial"/>
              </a:rPr>
              <a:t>Maquette — connexion, vitrine admin, panier vide</a:t>
            </a:r>
          </a:p>
        </p:txBody>
      </p:sp>
      <p:pic>
        <p:nvPicPr>
          <p:cNvPr id="3" name="Picture 2" descr="mockup-log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43000"/>
            <a:ext cx="3383280" cy="4023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5202936"/>
            <a:ext cx="3383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BC6288"/>
                </a:solidFill>
                <a:latin typeface="Arial"/>
              </a:rPr>
              <a:t>Connexion</a:t>
            </a:r>
          </a:p>
        </p:txBody>
      </p:sp>
      <p:pic>
        <p:nvPicPr>
          <p:cNvPr id="5" name="Picture 4" descr="mockup-admin-vitrin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20" y="1143000"/>
            <a:ext cx="3383280" cy="4023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60520" y="5202936"/>
            <a:ext cx="3383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BC6288"/>
                </a:solidFill>
                <a:latin typeface="Arial"/>
              </a:rPr>
              <a:t>Vitrine admin</a:t>
            </a:r>
          </a:p>
        </p:txBody>
      </p:sp>
      <p:pic>
        <p:nvPicPr>
          <p:cNvPr id="7" name="Picture 6" descr="mockup-panier-vide-mobil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79" y="1097280"/>
            <a:ext cx="3017520" cy="4572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955279" y="5705856"/>
            <a:ext cx="30175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BC6288"/>
                </a:solidFill>
                <a:latin typeface="Arial"/>
              </a:rPr>
              <a:t>Panier vide mobile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3A2A30"/>
                </a:solidFill>
                <a:latin typeface="Arial"/>
              </a:rP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Arial"/>
              </a:defRPr>
            </a:pPr>
            <a:r>
              <a:t>A customer can sign in, buy a photographed bouquet, pay or leave a deposit, subscribe, and track.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Arial"/>
              </a:defRPr>
            </a:pPr>
            <a:r>
              <a:t>The florist manages catalog, vitrine, and a printable TTC invoice — not a fake 20 % TVA.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Arial"/>
              </a:defRPr>
            </a:pPr>
            <a:r>
              <a:t>Gaps from the original Wix spec are written down. 92 tests. Secrets stay out of Git. HTTPS, CNIL lockout, email/SMS verify and password change ship.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Arial"/>
              </a:defRPr>
            </a:pPr>
            <a:r>
              <a:t>Wix leftovers still cut: click-and-collect, geo, homepage CMS, fiscal HT/TVA.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Arial"/>
              </a:defRPr>
            </a:pPr>
            <a:r>
              <a:t>Next slice: operations (delivery, email, hosting), not another visual pass.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 b="1">
                <a:solidFill>
                  <a:srgbClr val="3A2A30"/>
                </a:solidFill>
                <a:latin typeface="Arial"/>
              </a:rPr>
              <a:t>Fin. Merci.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800" b="0">
                <a:solidFill>
                  <a:srgbClr val="6C4A58"/>
                </a:solidFill>
                <a:latin typeface="Arial"/>
              </a:rPr>
              <a:t>PIVOINE &amp; LILAS — SCIEZ / LÉMAN</a:t>
            </a:r>
          </a:p>
          <a:p>
            <a:r>
              <a:rPr sz="1800" b="0">
                <a:solidFill>
                  <a:srgbClr val="6C4A58"/>
                </a:solidFill>
                <a:latin typeface="Arial"/>
              </a:rPr>
              <a:t>marie@test.com / marie123   ·   admin@florashop.com / admin123   ·   4242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Pivoine &amp; Lilas — Demo Day</dc:title>
  <dc:subject>Holberton presentation — importable in Google Slides</dc:subject>
  <dc:creator>Dimitri Jaille &amp; Mattieu Mouroux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