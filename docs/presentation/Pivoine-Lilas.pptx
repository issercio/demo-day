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image" Target="../media/image10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Relationship Id="rId4" Type="http://schemas.openxmlformats.org/officeDocument/2006/relationships/image" Target="../media/image13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C6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F3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28816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Calibri"/>
              </a:rPr>
              <a:t>Pivoine &amp; Lilas  ·  Sciez / Léman  ·  Dimitri Jaille &amp; Mattieu Mouroux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C6288"/>
                </a:solidFill>
              </a:rPr>
              <a:t>FLORIST  ·  SCIEZ / LÉMAN  ·  DEMO 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3A2A30"/>
                </a:solidFill>
              </a:rPr>
              <a:t>Pivoine &amp; Lilas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6C4A58"/>
                </a:solidFill>
              </a:rPr>
              <a:t>The boutique that still sells after closing time.
Dimitri Jaille &amp; Mattieu Mouroux  ·  Flask, JWT, Decimal checkout, printable invoices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C6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F3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28816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Calibri"/>
              </a:rPr>
              <a:t>Pivoine &amp; Lilas  ·  Sciez / Léman  ·  Dimitri Jaille &amp; Mattieu Mouroux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56032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C6288"/>
                </a:solidFill>
                <a:latin typeface="Calibri"/>
              </a:rPr>
              <a:t>0. IDENTITY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A2A30"/>
                </a:solidFill>
                <a:latin typeface="Calibri"/>
              </a:rPr>
              <a:t>Team, roles, decisions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1143000"/>
          <a:ext cx="113385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9520"/>
                <a:gridCol w="3779520"/>
                <a:gridCol w="3779520"/>
              </a:tblGrid>
              <a:tr h="48768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Name</a:t>
                      </a:r>
                    </a:p>
                  </a:txBody>
                  <a:tcPr>
                    <a:solidFill>
                      <a:srgbClr val="BC62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BC62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Owns</a:t>
                      </a:r>
                    </a:p>
                  </a:txBody>
                  <a:tcPr>
                    <a:solidFill>
                      <a:srgbClr val="BC628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A30"/>
                          </a:solidFill>
                          <a:latin typeface="Calibri"/>
                        </a:defRPr>
                      </a:pPr>
                      <a:r>
                        <a:t>Dimitri Jaille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A30"/>
                          </a:solidFill>
                          <a:latin typeface="Calibri"/>
                        </a:defRPr>
                      </a:pPr>
                      <a:r>
                        <a:t>Backend 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A30"/>
                          </a:solidFill>
                          <a:latin typeface="Calibri"/>
                        </a:defRPr>
                      </a:pPr>
                      <a:r>
                        <a:t>API, SQLAlchemy, JWT, checkout, tests, security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A30"/>
                          </a:solidFill>
                          <a:latin typeface="Calibri"/>
                        </a:defRPr>
                      </a:pPr>
                      <a:r>
                        <a:t>Mattieu Mouroux</a:t>
                      </a:r>
                    </a:p>
                  </a:txBody>
                  <a:tcPr>
                    <a:solidFill>
                      <a:srgbClr val="F8F5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A30"/>
                          </a:solidFill>
                          <a:latin typeface="Calibri"/>
                        </a:defRPr>
                      </a:pPr>
                      <a:r>
                        <a:t>Frontend &amp; Demo Day</a:t>
                      </a:r>
                    </a:p>
                  </a:txBody>
                  <a:tcPr>
                    <a:solidFill>
                      <a:srgbClr val="F8F5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A30"/>
                          </a:solidFill>
                          <a:latin typeface="Calibri"/>
                        </a:defRPr>
                      </a:pPr>
                      <a:r>
                        <a:t>Jinja/CSS/JS, stories, deck, live demo</a:t>
                      </a:r>
                    </a:p>
                  </a:txBody>
                  <a:tcPr>
                    <a:solidFill>
                      <a:srgbClr val="F8F5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11480" y="283464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A2A30"/>
                </a:solidFill>
                <a:latin typeface="Calibri"/>
              </a:defRPr>
            </a:pPr>
            <a:r>
              <a:t>Communication: GitHub commits/PRs every day; 15–30 min sync before each demo.</a:t>
            </a:r>
          </a:p>
          <a:p>
            <a:pPr>
              <a:spcAft>
                <a:spcPts val="800"/>
              </a:spcAft>
              <a:defRPr sz="1600">
                <a:solidFill>
                  <a:srgbClr val="3A2A30"/>
                </a:solidFill>
                <a:latin typeface="Calibri"/>
              </a:defRPr>
            </a:pPr>
            <a:r>
              <a:t>Decisions: Mattieu on UI copy; Dimitri on money/auth. Cuts (email, geo, HT/TVA) are written as missing stories — never hidden.</a:t>
            </a:r>
          </a:p>
          <a:p>
            <a:pPr>
              <a:spcAft>
                <a:spcPts val="800"/>
              </a:spcAft>
              <a:defRPr sz="1600">
                <a:solidFill>
                  <a:srgbClr val="3A2A30"/>
                </a:solidFill>
                <a:latin typeface="Calibri"/>
              </a:defRPr>
            </a:pPr>
            <a:r>
              <a:t>Evidence: github.com/Issercio/Demo-day · branch main · ./run-tests.sh (80 tests).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C6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F3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28816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Calibri"/>
              </a:rPr>
              <a:t>Pivoine &amp; Lilas  ·  Sciez / Léman  ·  Dimitri Jaille &amp; Mattieu Mouroux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56032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C6288"/>
                </a:solidFill>
                <a:latin typeface="Calibri"/>
              </a:rPr>
              <a:t>1.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A2A30"/>
                </a:solidFill>
                <a:latin typeface="Calibri"/>
              </a:rPr>
              <a:t>Who suffers, and how we know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09728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A2A30"/>
                </a:solidFill>
                <a:latin typeface="Calibri"/>
              </a:defRPr>
            </a:pPr>
            <a:r>
              <a:t>Problem: the Sciez shop still sold after 19:00, but the Wix site was a brochure — no cart, no pay, no catalog the florist could update.</a:t>
            </a:r>
          </a:p>
          <a:p>
            <a:pPr>
              <a:spcAft>
                <a:spcPts val="800"/>
              </a:spcAft>
              <a:defRPr sz="1700">
                <a:solidFill>
                  <a:srgbClr val="3A2A30"/>
                </a:solidFill>
                <a:latin typeface="Calibri"/>
              </a:defRPr>
            </a:pPr>
            <a:r>
              <a:t>Users: Marie (last-minute birthday), Léa (subscription), Camille the florist (atelier + vitrine).</a:t>
            </a:r>
          </a:p>
          <a:p>
            <a:pPr>
              <a:spcAft>
                <a:spcPts val="800"/>
              </a:spcAft>
              <a:defRPr sz="1700">
                <a:solidFill>
                  <a:srgbClr val="3A2A30"/>
                </a:solidFill>
                <a:latin typeface="Calibri"/>
              </a:defRPr>
            </a:pPr>
            <a:r>
              <a:t>Pain: phone orders without line items; Instagram instead of a catalog; shared demo carts; no workshop status.</a:t>
            </a:r>
          </a:p>
          <a:p>
            <a:pPr>
              <a:spcAft>
                <a:spcPts val="800"/>
              </a:spcAft>
              <a:defRPr sz="1700">
                <a:solidFill>
                  <a:srgbClr val="3A2A30"/>
                </a:solidFill>
                <a:latin typeface="Calibri"/>
              </a:defRPr>
            </a:pPr>
            <a:r>
              <a:t>Evidence: Wix observation, classroom bugs we actually fixed (empty checkout, bcrypt Marie, client prices), Interflora already takes cards after hours.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C6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F3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28816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Calibri"/>
              </a:rPr>
              <a:t>Pivoine &amp; Lilas  ·  Sciez / Léman  ·  Dimitri Jaille &amp; Mattieu Mouroux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56032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C6288"/>
                </a:solidFill>
                <a:latin typeface="Calibri"/>
              </a:rPr>
              <a:t>2.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A2A30"/>
                </a:solidFill>
                <a:latin typeface="Calibri"/>
              </a:rPr>
              <a:t>One shop, server-owned prices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09728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A2A30"/>
                </a:solidFill>
                <a:latin typeface="Calibri"/>
              </a:defRPr>
            </a:pPr>
            <a:r>
              <a:t>Responsive Flask shop: catalog with photos, private cart, checkout, 30 % deposit, subscriptions, Mes commandes.</a:t>
            </a:r>
          </a:p>
          <a:p>
            <a:pPr>
              <a:spcAft>
                <a:spcPts val="800"/>
              </a:spcAft>
              <a:defRPr sz="1700">
                <a:solidFill>
                  <a:srgbClr val="3A2A30"/>
                </a:solidFill>
                <a:latin typeface="Calibri"/>
              </a:defRPr>
            </a:pPr>
            <a:r>
              <a:t>Florist desk: CRUD + photo upload, season/event vitrine combo, FAC invoices, prep À préparer → Remise.</a:t>
            </a:r>
          </a:p>
          <a:p>
            <a:pPr>
              <a:spcAft>
                <a:spcPts val="800"/>
              </a:spcAft>
              <a:defRPr sz="1700">
                <a:solidFill>
                  <a:srgbClr val="3A2A30"/>
                </a:solidFill>
                <a:latin typeface="Calibri"/>
              </a:defRPr>
            </a:pPr>
            <a:r>
              <a:t>Value: buy after closing time; florist sees payment and the atelier; Demo Day runs without Stripe secrets (4242).</a:t>
            </a:r>
          </a:p>
          <a:p>
            <a:pPr>
              <a:spcAft>
                <a:spcPts val="800"/>
              </a:spcAft>
              <a:defRPr sz="1700">
                <a:solidFill>
                  <a:srgbClr val="3A2A30"/>
                </a:solidFill>
                <a:latin typeface="Calibri"/>
              </a:defRPr>
            </a:pPr>
            <a:r>
              <a:t>MVP boundary: a paid photographed bouquet + a florist invoice. Not in MVP: email, geo, click-and-collect, fiscal HT/TVA.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C6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F3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28816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Calibri"/>
              </a:rPr>
              <a:t>Pivoine &amp; Lilas  ·  Sciez / Léman  ·  Dimitri Jaille &amp; Mattieu Mouroux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56032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C6288"/>
                </a:solidFill>
                <a:latin typeface="Calibri"/>
              </a:rPr>
              <a:t>TECHNOLOGIES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A2A30"/>
                </a:solidFill>
                <a:latin typeface="Calibri"/>
              </a:rPr>
              <a:t>Choices we can defend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143000"/>
            <a:ext cx="3657600" cy="2103120"/>
          </a:xfrm>
          <a:prstGeom prst="roundRect">
            <a:avLst/>
          </a:prstGeom>
          <a:solidFill>
            <a:srgbClr val="F8F5F2"/>
          </a:solidFill>
          <a:ln>
            <a:solidFill>
              <a:srgbClr val="BC62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216152"/>
            <a:ext cx="3474720" cy="1993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BC6288"/>
                </a:solidFill>
                <a:latin typeface="Calibri"/>
              </a:rPr>
              <a:t>Frontend</a:t>
            </a:r>
          </a:p>
          <a:p>
            <a:pPr>
              <a:defRPr sz="1200">
                <a:solidFill>
                  <a:srgbClr val="3A2A30"/>
                </a:solidFill>
                <a:latin typeface="Calibri"/>
              </a:defRPr>
            </a:pPr>
            <a:r>
              <a:t>Jinja2 + vanilla JS</a:t>
            </a:r>
          </a:p>
          <a:p>
            <a:pPr>
              <a:defRPr sz="1200">
                <a:solidFill>
                  <a:srgbClr val="3A2A30"/>
                </a:solidFill>
                <a:latin typeface="Calibri"/>
              </a:defRPr>
            </a:pPr>
            <a:r>
              <a:t>Custom CSS (florist pink)</a:t>
            </a:r>
          </a:p>
          <a:p>
            <a:pPr>
              <a:defRPr sz="1200">
                <a:solidFill>
                  <a:srgbClr val="3A2A30"/>
                </a:solidFill>
                <a:latin typeface="Calibri"/>
              </a:defRPr>
            </a:pPr>
            <a:r>
              <a:t>localStorage cart per account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143000"/>
            <a:ext cx="3657600" cy="2103120"/>
          </a:xfrm>
          <a:prstGeom prst="roundRect">
            <a:avLst/>
          </a:prstGeom>
          <a:solidFill>
            <a:srgbClr val="F8F5F2"/>
          </a:solidFill>
          <a:ln>
            <a:solidFill>
              <a:srgbClr val="BC62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15968" y="1216152"/>
            <a:ext cx="3474720" cy="1993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BC6288"/>
                </a:solidFill>
                <a:latin typeface="Calibri"/>
              </a:rPr>
              <a:t>Backend / API</a:t>
            </a:r>
          </a:p>
          <a:p>
            <a:pPr>
              <a:defRPr sz="1200">
                <a:solidFill>
                  <a:srgbClr val="3A2A30"/>
                </a:solidFill>
                <a:latin typeface="Calibri"/>
              </a:defRPr>
            </a:pPr>
            <a:r>
              <a:t>Flask 3 + RESTX Swagger</a:t>
            </a:r>
          </a:p>
          <a:p>
            <a:pPr>
              <a:defRPr sz="1200">
                <a:solidFill>
                  <a:srgbClr val="3A2A30"/>
                </a:solidFill>
                <a:latin typeface="Calibri"/>
              </a:defRPr>
            </a:pPr>
            <a:r>
              <a:t>SQLAlchemy 2 Numeric money</a:t>
            </a:r>
          </a:p>
          <a:p>
            <a:pPr>
              <a:defRPr sz="1200">
                <a:solidFill>
                  <a:srgbClr val="3A2A30"/>
                </a:solidFill>
                <a:latin typeface="Calibri"/>
              </a:defRPr>
            </a:pPr>
            <a:r>
              <a:t>JWT HS256, roles from DB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143000"/>
            <a:ext cx="3657600" cy="2103120"/>
          </a:xfrm>
          <a:prstGeom prst="roundRect">
            <a:avLst/>
          </a:prstGeom>
          <a:solidFill>
            <a:srgbClr val="F8F5F2"/>
          </a:solidFill>
          <a:ln>
            <a:solidFill>
              <a:srgbClr val="BC62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56448" y="1216152"/>
            <a:ext cx="3474720" cy="1993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BC6288"/>
                </a:solidFill>
                <a:latin typeface="Calibri"/>
              </a:rPr>
              <a:t>Payments / extra</a:t>
            </a:r>
          </a:p>
          <a:p>
            <a:pPr>
              <a:defRPr sz="1200">
                <a:solidFill>
                  <a:srgbClr val="3A2A30"/>
                </a:solidFill>
                <a:latin typeface="Calibri"/>
              </a:defRPr>
            </a:pPr>
            <a:r>
              <a:t>Test cards or Stripe API</a:t>
            </a:r>
          </a:p>
          <a:p>
            <a:pPr>
              <a:defRPr sz="1200">
                <a:solidFill>
                  <a:srgbClr val="3A2A30"/>
                </a:solidFill>
                <a:latin typeface="Calibri"/>
              </a:defRPr>
            </a:pPr>
            <a:r>
              <a:t>Photos on disk</a:t>
            </a:r>
          </a:p>
          <a:p>
            <a:pPr>
              <a:defRPr sz="1200">
                <a:solidFill>
                  <a:srgbClr val="3A2A30"/>
                </a:solidFill>
                <a:latin typeface="Calibri"/>
              </a:defRPr>
            </a:pPr>
            <a:r>
              <a:t>unittest + coverage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42900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A2A30"/>
                </a:solidFill>
                <a:latin typeface="Calibri"/>
              </a:defRPr>
            </a:pPr>
            <a:r>
              <a:t>Why not React: two people, one process, 20-minute demo. Why SQLite: classroom machines. Why Decimal: euros are not floats.</a:t>
            </a:r>
          </a:p>
          <a:p>
            <a:pPr>
              <a:spcAft>
                <a:spcPts val="800"/>
              </a:spcAft>
              <a:defRPr sz="1600">
                <a:solidFill>
                  <a:srgbClr val="3A2A30"/>
                </a:solidFill>
                <a:latin typeface="Calibri"/>
              </a:defRPr>
            </a:pPr>
            <a:r>
              <a:t>External API: Stripe PaymentIntent when keys exist. Empty keys → documented test PANs (mandatory “external service” without live charges).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C6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F3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28816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Calibri"/>
              </a:rPr>
              <a:t>Pivoine &amp; Lilas  ·  Sciez / Léman  ·  Dimitri Jaille &amp; Mattieu Mouroux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56032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C6288"/>
                </a:solidFill>
                <a:latin typeface="Calibri"/>
              </a:rPr>
              <a:t>USER STORIES — SHIPPED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A2A30"/>
                </a:solidFill>
                <a:latin typeface="Calibri"/>
              </a:rPr>
              <a:t>Must / Should / Could that actually run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1097280"/>
          <a:ext cx="113385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9520"/>
                <a:gridCol w="3779520"/>
                <a:gridCol w="3779520"/>
              </a:tblGrid>
              <a:tr h="48768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BC62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Story</a:t>
                      </a:r>
                    </a:p>
                  </a:txBody>
                  <a:tcPr>
                    <a:solidFill>
                      <a:srgbClr val="BC62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Prio</a:t>
                      </a:r>
                    </a:p>
                  </a:txBody>
                  <a:tcPr>
                    <a:solidFill>
                      <a:srgbClr val="BC628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A30"/>
                          </a:solidFill>
                          <a:latin typeface="Calibri"/>
                        </a:defRPr>
                      </a:pPr>
                      <a:r>
                        <a:t>Customer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A30"/>
                          </a:solidFill>
                          <a:latin typeface="Calibri"/>
                        </a:defRPr>
                      </a:pPr>
                      <a:r>
                        <a:t>Register, login, logout, JWT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A30"/>
                          </a:solidFill>
                          <a:latin typeface="Calibri"/>
                        </a:defRPr>
                      </a:pPr>
                      <a:r>
                        <a:t>Must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A30"/>
                          </a:solidFill>
                          <a:latin typeface="Calibri"/>
                        </a:defRPr>
                      </a:pPr>
                      <a:r>
                        <a:t>Customer</a:t>
                      </a:r>
                    </a:p>
                  </a:txBody>
                  <a:tcPr>
                    <a:solidFill>
                      <a:srgbClr val="F8F5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A30"/>
                          </a:solidFill>
                          <a:latin typeface="Calibri"/>
                        </a:defRPr>
                      </a:pPr>
                      <a:r>
                        <a:t>Browse photos, filter colour/price/name</a:t>
                      </a:r>
                    </a:p>
                  </a:txBody>
                  <a:tcPr>
                    <a:solidFill>
                      <a:srgbClr val="F8F5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A30"/>
                          </a:solidFill>
                          <a:latin typeface="Calibri"/>
                        </a:defRPr>
                      </a:pPr>
                      <a:r>
                        <a:t>Must</a:t>
                      </a:r>
                    </a:p>
                  </a:txBody>
                  <a:tcPr>
                    <a:solidFill>
                      <a:srgbClr val="F8F5F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A30"/>
                          </a:solidFill>
                          <a:latin typeface="Calibri"/>
                        </a:defRPr>
                      </a:pPr>
                      <a:r>
                        <a:t>Customer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A30"/>
                          </a:solidFill>
                          <a:latin typeface="Calibri"/>
                        </a:defRPr>
                      </a:pPr>
                      <a:r>
                        <a:t>Cart isolated per account + pay (4242 / deposit)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A30"/>
                          </a:solidFill>
                          <a:latin typeface="Calibri"/>
                        </a:defRPr>
                      </a:pPr>
                      <a:r>
                        <a:t>Must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A30"/>
                          </a:solidFill>
                          <a:latin typeface="Calibri"/>
                        </a:defRPr>
                      </a:pPr>
                      <a:r>
                        <a:t>Customer</a:t>
                      </a:r>
                    </a:p>
                  </a:txBody>
                  <a:tcPr>
                    <a:solidFill>
                      <a:srgbClr val="F8F5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A30"/>
                          </a:solidFill>
                          <a:latin typeface="Calibri"/>
                        </a:defRPr>
                      </a:pPr>
                      <a:r>
                        <a:t>Track order on Mes commandes</a:t>
                      </a:r>
                    </a:p>
                  </a:txBody>
                  <a:tcPr>
                    <a:solidFill>
                      <a:srgbClr val="F8F5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A30"/>
                          </a:solidFill>
                          <a:latin typeface="Calibri"/>
                        </a:defRPr>
                      </a:pPr>
                      <a:r>
                        <a:t>Should</a:t>
                      </a:r>
                    </a:p>
                  </a:txBody>
                  <a:tcPr>
                    <a:solidFill>
                      <a:srgbClr val="F8F5F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A30"/>
                          </a:solidFill>
                          <a:latin typeface="Calibri"/>
                        </a:defRPr>
                      </a:pPr>
                      <a:r>
                        <a:t>Customer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A30"/>
                          </a:solidFill>
                          <a:latin typeface="Calibri"/>
                        </a:defRPr>
                      </a:pPr>
                      <a:r>
                        <a:t>Subscribe Éclat Mensuel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A30"/>
                          </a:solidFill>
                          <a:latin typeface="Calibri"/>
                        </a:defRPr>
                      </a:pPr>
                      <a:r>
                        <a:t>Should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A30"/>
                          </a:solidFill>
                          <a:latin typeface="Calibri"/>
                        </a:defRPr>
                      </a:pPr>
                      <a:r>
                        <a:t>Florist</a:t>
                      </a:r>
                    </a:p>
                  </a:txBody>
                  <a:tcPr>
                    <a:solidFill>
                      <a:srgbClr val="F8F5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A30"/>
                          </a:solidFill>
                          <a:latin typeface="Calibri"/>
                        </a:defRPr>
                      </a:pPr>
                      <a:r>
                        <a:t>CRUD catalog + upload photo</a:t>
                      </a:r>
                    </a:p>
                  </a:txBody>
                  <a:tcPr>
                    <a:solidFill>
                      <a:srgbClr val="F8F5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A30"/>
                          </a:solidFill>
                          <a:latin typeface="Calibri"/>
                        </a:defRPr>
                      </a:pPr>
                      <a:r>
                        <a:t>Must</a:t>
                      </a:r>
                    </a:p>
                  </a:txBody>
                  <a:tcPr>
                    <a:solidFill>
                      <a:srgbClr val="F8F5F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A30"/>
                          </a:solidFill>
                          <a:latin typeface="Calibri"/>
                        </a:defRPr>
                      </a:pPr>
                      <a:r>
                        <a:t>Florist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A30"/>
                          </a:solidFill>
                          <a:latin typeface="Calibri"/>
                        </a:defRPr>
                      </a:pPr>
                      <a:r>
                        <a:t>Vitrine season / theme / combo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A30"/>
                          </a:solidFill>
                          <a:latin typeface="Calibri"/>
                        </a:defRPr>
                      </a:pPr>
                      <a:r>
                        <a:t>Could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A30"/>
                          </a:solidFill>
                          <a:latin typeface="Calibri"/>
                        </a:defRPr>
                      </a:pPr>
                      <a:r>
                        <a:t>Florist</a:t>
                      </a:r>
                    </a:p>
                  </a:txBody>
                  <a:tcPr>
                    <a:solidFill>
                      <a:srgbClr val="F8F5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A30"/>
                          </a:solidFill>
                          <a:latin typeface="Calibri"/>
                        </a:defRPr>
                      </a:pPr>
                      <a:r>
                        <a:t>Printable FAC invoice + atelier prep</a:t>
                      </a:r>
                    </a:p>
                  </a:txBody>
                  <a:tcPr>
                    <a:solidFill>
                      <a:srgbClr val="F8F5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A30"/>
                          </a:solidFill>
                          <a:latin typeface="Calibri"/>
                        </a:defRPr>
                      </a:pPr>
                      <a:r>
                        <a:t>Must</a:t>
                      </a:r>
                    </a:p>
                  </a:txBody>
                  <a:tcPr>
                    <a:solidFill>
                      <a:srgbClr val="F8F5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C6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F3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28816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Calibri"/>
              </a:rPr>
              <a:t>Pivoine &amp; Lilas  ·  Sciez / Léman  ·  Dimitri Jaille &amp; Mattieu Mouroux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56032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C6288"/>
                </a:solidFill>
                <a:latin typeface="Calibri"/>
              </a:rPr>
              <a:t>MISSING ON 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A2A30"/>
                </a:solidFill>
                <a:latin typeface="Calibri"/>
              </a:rPr>
              <a:t>Specified, not shipped — not defects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097280"/>
          <a:ext cx="11430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5715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Story</a:t>
                      </a:r>
                    </a:p>
                  </a:txBody>
                  <a:tcPr>
                    <a:solidFill>
                      <a:srgbClr val="BC62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Why cut</a:t>
                      </a:r>
                    </a:p>
                  </a:txBody>
                  <a:tcPr>
                    <a:solidFill>
                      <a:srgbClr val="BC62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Today</a:t>
                      </a:r>
                    </a:p>
                  </a:txBody>
                  <a:tcPr>
                    <a:solidFill>
                      <a:srgbClr val="BC628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A30"/>
                          </a:solidFill>
                          <a:latin typeface="Calibri"/>
                        </a:defRPr>
                      </a:pPr>
                      <a:r>
                        <a:t>Email verification / reset 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A30"/>
                          </a:solidFill>
                          <a:latin typeface="Calibri"/>
                        </a:defRPr>
                      </a:pPr>
                      <a:r>
                        <a:t>No mail provider in 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A30"/>
                          </a:solidFill>
                          <a:latin typeface="Calibri"/>
                        </a:defRPr>
                      </a:pPr>
                      <a:r>
                        <a:t>UI pages only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A30"/>
                          </a:solidFill>
                          <a:latin typeface="Calibri"/>
                        </a:defRPr>
                      </a:pPr>
                      <a:r>
                        <a:t>Password change by customer</a:t>
                      </a:r>
                    </a:p>
                  </a:txBody>
                  <a:tcPr>
                    <a:solidFill>
                      <a:srgbClr val="F8F5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A30"/>
                          </a:solidFill>
                          <a:latin typeface="Calibri"/>
                        </a:defRPr>
                      </a:pPr>
                      <a:r>
                        <a:t>PUT /users is admin-only</a:t>
                      </a:r>
                    </a:p>
                  </a:txBody>
                  <a:tcPr>
                    <a:solidFill>
                      <a:srgbClr val="F8F5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A30"/>
                          </a:solidFill>
                          <a:latin typeface="Calibri"/>
                        </a:defRPr>
                      </a:pPr>
                      <a:r>
                        <a:t>Hash exists, no form</a:t>
                      </a:r>
                    </a:p>
                  </a:txBody>
                  <a:tcPr>
                    <a:solidFill>
                      <a:srgbClr val="F8F5F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A30"/>
                          </a:solidFill>
                          <a:latin typeface="Calibri"/>
                        </a:defRPr>
                      </a:pPr>
                      <a:r>
                        <a:t>Click-and-collect slot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A30"/>
                          </a:solidFill>
                          <a:latin typeface="Calibri"/>
                        </a:defRPr>
                      </a:pPr>
                      <a:r>
                        <a:t>Time-box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A30"/>
                          </a:solidFill>
                          <a:latin typeface="Calibri"/>
                        </a:defRPr>
                      </a:pPr>
                      <a:r>
                        <a:t>Paid order, no window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A30"/>
                          </a:solidFill>
                          <a:latin typeface="Calibri"/>
                        </a:defRPr>
                      </a:pPr>
                      <a:r>
                        <a:t>Delivery zones</a:t>
                      </a:r>
                    </a:p>
                  </a:txBody>
                  <a:tcPr>
                    <a:solidFill>
                      <a:srgbClr val="F8F5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A30"/>
                          </a:solidFill>
                          <a:latin typeface="Calibri"/>
                        </a:defRPr>
                      </a:pPr>
                      <a:r>
                        <a:t>No geo table</a:t>
                      </a:r>
                    </a:p>
                  </a:txBody>
                  <a:tcPr>
                    <a:solidFill>
                      <a:srgbClr val="F8F5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A30"/>
                          </a:solidFill>
                          <a:latin typeface="Calibri"/>
                        </a:defRPr>
                      </a:pPr>
                      <a:r>
                        <a:t>Not modelled</a:t>
                      </a:r>
                    </a:p>
                  </a:txBody>
                  <a:tcPr>
                    <a:solidFill>
                      <a:srgbClr val="F8F5F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A30"/>
                          </a:solidFill>
                          <a:latin typeface="Calibri"/>
                        </a:defRPr>
                      </a:pPr>
                      <a:r>
                        <a:t>Homepage CMS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A30"/>
                          </a:solidFill>
                          <a:latin typeface="Calibri"/>
                        </a:defRPr>
                      </a:pPr>
                      <a:r>
                        <a:t>Vitrine is the shop window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A30"/>
                          </a:solidFill>
                          <a:latin typeface="Calibri"/>
                        </a:defRPr>
                      </a:pPr>
                      <a:r>
                        <a:t>accueil is a template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A30"/>
                          </a:solidFill>
                          <a:latin typeface="Calibri"/>
                        </a:defRPr>
                      </a:pPr>
                      <a:r>
                        <a:t>HT + TVA invoice</a:t>
                      </a:r>
                    </a:p>
                  </a:txBody>
                  <a:tcPr>
                    <a:solidFill>
                      <a:srgbClr val="F8F5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A30"/>
                          </a:solidFill>
                          <a:latin typeface="Calibri"/>
                        </a:defRPr>
                      </a:pPr>
                      <a:r>
                        <a:t>CGV has no VAT regime</a:t>
                      </a:r>
                    </a:p>
                  </a:txBody>
                  <a:tcPr>
                    <a:solidFill>
                      <a:srgbClr val="F8F5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A30"/>
                          </a:solidFill>
                          <a:latin typeface="Calibri"/>
                        </a:defRPr>
                      </a:pPr>
                      <a:r>
                        <a:t>TTC demo FAC only</a:t>
                      </a:r>
                    </a:p>
                  </a:txBody>
                  <a:tcPr>
                    <a:solidFill>
                      <a:srgbClr val="F8F5F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A30"/>
                          </a:solidFill>
                          <a:latin typeface="Calibri"/>
                        </a:defRPr>
                      </a:pPr>
                      <a:r>
                        <a:t>Reviews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A30"/>
                          </a:solidFill>
                          <a:latin typeface="Calibri"/>
                        </a:defRPr>
                      </a:pPr>
                      <a:r>
                        <a:t>Model leftover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A30"/>
                          </a:solidFill>
                          <a:latin typeface="Calibri"/>
                        </a:defRPr>
                      </a:pPr>
                      <a:r>
                        <a:t>API not mounted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C6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F3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28816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Calibri"/>
              </a:rPr>
              <a:t>Pivoine &amp; Lilas  ·  Sciez / Léman  ·  Dimitri Jaille &amp; Mattieu Mouroux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56032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C6288"/>
                </a:solidFill>
                <a:latin typeface="Calibri"/>
              </a:rPr>
              <a:t>MOSCOW / MVP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A2A30"/>
                </a:solidFill>
                <a:latin typeface="Calibri"/>
              </a:rPr>
              <a:t>If everything is Must, nothing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09728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A2A30"/>
                </a:solidFill>
                <a:latin typeface="Calibri"/>
              </a:defRPr>
            </a:pPr>
            <a:r>
              <a:t>Must: auth, catalog+photos, isolated cart, server checkout, admin guard, florist invoice/prep.</a:t>
            </a:r>
          </a:p>
          <a:p>
            <a:pPr>
              <a:spcAft>
                <a:spcPts val="800"/>
              </a:spcAft>
              <a:defRPr sz="1700">
                <a:solidFill>
                  <a:srgbClr val="3A2A30"/>
                </a:solidFill>
                <a:latin typeface="Calibri"/>
              </a:defRPr>
            </a:pPr>
            <a:r>
              <a:t>Should: subscriptions, 30 % deposit, Mes commandes, shop filters.</a:t>
            </a:r>
          </a:p>
          <a:p>
            <a:pPr>
              <a:spcAft>
                <a:spcPts val="800"/>
              </a:spcAft>
              <a:defRPr sz="1700">
                <a:solidFill>
                  <a:srgbClr val="3A2A30"/>
                </a:solidFill>
                <a:latin typeface="Calibri"/>
              </a:defRPr>
            </a:pPr>
            <a:r>
              <a:t>Could: vitrine combos, custom event themes, optional Stripe, print window.</a:t>
            </a:r>
          </a:p>
          <a:p>
            <a:pPr>
              <a:spcAft>
                <a:spcPts val="800"/>
              </a:spcAft>
              <a:defRPr sz="1700">
                <a:solidFill>
                  <a:srgbClr val="3A2A30"/>
                </a:solidFill>
                <a:latin typeface="Calibri"/>
              </a:defRPr>
            </a:pPr>
            <a:r>
              <a:t>Won’t: native app, chat, AI, 2FA, OAuth, email, geo, fiscal TVA.</a:t>
            </a:r>
          </a:p>
          <a:p>
            <a:pPr>
              <a:spcAft>
                <a:spcPts val="800"/>
              </a:spcAft>
              <a:defRPr sz="1700">
                <a:solidFill>
                  <a:srgbClr val="3A2A30"/>
                </a:solidFill>
                <a:latin typeface="Calibri"/>
              </a:defRPr>
            </a:pPr>
            <a:r>
              <a:t>MVP green: Marie pays for Bouquet Pivoine; Camille opens FAC-YYYY-NNNN and moves À préparer.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C6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F3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28816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Calibri"/>
              </a:rPr>
              <a:t>Pivoine &amp; Lilas  ·  Sciez / Léman  ·  Dimitri Jaille &amp; Mattieu Mouroux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56032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C6288"/>
                </a:solidFill>
                <a:latin typeface="Calibri"/>
              </a:rPr>
              <a:t>BUGS AND 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A2A30"/>
                </a:solidFill>
                <a:latin typeface="Calibri"/>
              </a:rPr>
              <a:t>Nothing that blocks a purchase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143000"/>
            <a:ext cx="55778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BC62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1216152"/>
            <a:ext cx="5394959" cy="4645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BC6288"/>
                </a:solidFill>
                <a:latin typeface="Calibri"/>
              </a:rPr>
              <a:t>Fixed (tests + demo)</a:t>
            </a:r>
          </a:p>
          <a:p>
            <a:pPr>
              <a:defRPr sz="1200">
                <a:solidFill>
                  <a:srgbClr val="3A2A30"/>
                </a:solidFill>
                <a:latin typeface="Calibri"/>
              </a:defRPr>
            </a:pPr>
            <a:r>
              <a:t>Empty checkout after per-user carts</a:t>
            </a:r>
          </a:p>
          <a:p>
            <a:pPr>
              <a:defRPr sz="1200">
                <a:solidFill>
                  <a:srgbClr val="3A2A30"/>
                </a:solidFill>
                <a:latin typeface="Calibri"/>
              </a:defRPr>
            </a:pPr>
            <a:r>
              <a:t>Marie locked out by bcrypt</a:t>
            </a:r>
          </a:p>
          <a:p>
            <a:pPr>
              <a:defRPr sz="1200">
                <a:solidFill>
                  <a:srgbClr val="3A2A30"/>
                </a:solidFill>
                <a:latin typeface="Calibri"/>
              </a:defRPr>
            </a:pPr>
            <a:r>
              <a:t>Cart leaked between accounts</a:t>
            </a:r>
          </a:p>
          <a:p>
            <a:pPr>
              <a:defRPr sz="1200">
                <a:solidFill>
                  <a:srgbClr val="3A2A30"/>
                </a:solidFill>
                <a:latin typeface="Calibri"/>
              </a:defRPr>
            </a:pPr>
            <a:r>
              <a:t>Checkout trusted browser prices</a:t>
            </a:r>
          </a:p>
          <a:p>
            <a:pPr>
              <a:defRPr sz="1200">
                <a:solidFill>
                  <a:srgbClr val="3A2A30"/>
                </a:solidFill>
                <a:latin typeface="Calibri"/>
              </a:defRPr>
            </a:pPr>
            <a:r>
              <a:t>float money → Numeric / Decimal</a:t>
            </a:r>
          </a:p>
          <a:p>
            <a:pPr>
              <a:defRPr sz="1200">
                <a:solidFill>
                  <a:srgbClr val="3A2A30"/>
                </a:solidFill>
                <a:latin typeface="Calibri"/>
              </a:defRPr>
            </a:pPr>
            <a:r>
              <a:t>Navbar covering content / profile stretch</a:t>
            </a:r>
          </a:p>
          <a:p>
            <a:pPr>
              <a:defRPr sz="1200">
                <a:solidFill>
                  <a:srgbClr val="3A2A30"/>
                </a:solidFill>
                <a:latin typeface="Calibri"/>
              </a:defRPr>
            </a:pPr>
            <a:r>
              <a:t>Season picker on accueil → admin vitrine</a:t>
            </a:r>
          </a:p>
          <a:p>
            <a:pPr>
              <a:defRPr sz="1200">
                <a:solidFill>
                  <a:srgbClr val="3A2A30"/>
                </a:solidFill>
                <a:latin typeface="Calibri"/>
              </a:defRPr>
            </a:pPr>
            <a:r>
              <a:t>Stolen PI on public checkout rejected</a:t>
            </a:r>
          </a:p>
          <a:p>
            <a:pPr>
              <a:defRPr sz="1200">
                <a:solidFill>
                  <a:srgbClr val="3A2A30"/>
                </a:solidFill>
                <a:latin typeface="Calibri"/>
              </a:defRPr>
            </a:pPr>
            <a:r>
              <a:t>XSS tester index.html gone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143000"/>
            <a:ext cx="55778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BC62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81928" y="1216152"/>
            <a:ext cx="5394959" cy="4645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BC6288"/>
                </a:solidFill>
                <a:latin typeface="Calibri"/>
              </a:rPr>
              <a:t>Open (honest)</a:t>
            </a:r>
          </a:p>
          <a:p>
            <a:pPr>
              <a:defRPr sz="1200">
                <a:solidFill>
                  <a:srgbClr val="3A2A30"/>
                </a:solidFill>
                <a:latin typeface="Calibri"/>
              </a:defRPr>
            </a:pPr>
            <a:r>
              <a:t>No email send</a:t>
            </a:r>
          </a:p>
          <a:p>
            <a:pPr>
              <a:defRPr sz="1200">
                <a:solidFill>
                  <a:srgbClr val="3A2A30"/>
                </a:solidFill>
                <a:latin typeface="Calibri"/>
              </a:defRPr>
            </a:pPr>
            <a:r>
              <a:t>Reviews API unmounted</a:t>
            </a:r>
          </a:p>
          <a:p>
            <a:pPr>
              <a:defRPr sz="1200">
                <a:solidFill>
                  <a:srgbClr val="3A2A30"/>
                </a:solidFill>
                <a:latin typeface="Calibri"/>
              </a:defRPr>
            </a:pPr>
            <a:r>
              <a:t>Cart in localStorage</a:t>
            </a:r>
          </a:p>
          <a:p>
            <a:pPr>
              <a:defRPr sz="1200">
                <a:solidFill>
                  <a:srgbClr val="3A2A30"/>
                </a:solidFill>
                <a:latin typeface="Calibri"/>
              </a:defRPr>
            </a:pPr>
            <a:r>
              <a:t>Unused prices table</a:t>
            </a:r>
          </a:p>
          <a:p>
            <a:pPr>
              <a:defRPr sz="1200">
                <a:solidFill>
                  <a:srgbClr val="3A2A30"/>
                </a:solidFill>
                <a:latin typeface="Calibri"/>
              </a:defRPr>
            </a:pPr>
            <a:r>
              <a:t>No production host / TLS in repo</a:t>
            </a:r>
          </a:p>
          <a:p>
            <a:pPr>
              <a:defRPr sz="1200">
                <a:solidFill>
                  <a:srgbClr val="3A2A30"/>
                </a:solidFill>
                <a:latin typeface="Calibri"/>
              </a:defRPr>
            </a:pPr>
            <a:r>
              <a:t>JWT in localStorage (XSS residual)</a:t>
            </a:r>
          </a:p>
          <a:p>
            <a:pPr>
              <a:defRPr sz="1200">
                <a:solidFill>
                  <a:srgbClr val="3A2A30"/>
                </a:solidFill>
                <a:latin typeface="Calibri"/>
              </a:defRPr>
            </a:pPr>
            <a:r>
              <a:t>No login rate-limit (CNIL gap)</a:t>
            </a:r>
          </a:p>
          <a:p>
            <a:pPr>
              <a:defRPr sz="1200">
                <a:solidFill>
                  <a:srgbClr val="3A2A30"/>
                </a:solidFill>
                <a:latin typeface="Calibri"/>
              </a:defRPr>
            </a:pPr>
            <a:r>
              <a:t>Coverage diluted by leftovers</a:t>
            </a:r>
          </a:p>
          <a:p>
            <a:pPr>
              <a:defRPr sz="1200">
                <a:solidFill>
                  <a:srgbClr val="3A2A30"/>
                </a:solidFill>
                <a:latin typeface="Calibri"/>
              </a:defRPr>
            </a:pPr>
            <a:r>
              <a:t>Invoices are TTC demo docs, not tax invoices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C6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F3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28816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Calibri"/>
              </a:rPr>
              <a:t>Pivoine &amp; Lilas  ·  Sciez / Léman  ·  Dimitri Jaille &amp; Mattieu Mouroux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56032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C6288"/>
                </a:solidFill>
                <a:latin typeface="Calibri"/>
              </a:rPr>
              <a:t>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A2A30"/>
                </a:solidFill>
                <a:latin typeface="Calibri"/>
              </a:rPr>
              <a:t>The browser displays. The server owns the price.</a:t>
            </a:r>
          </a:p>
        </p:txBody>
      </p:sp>
      <p:pic>
        <p:nvPicPr>
          <p:cNvPr id="8" name="Picture 7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1560"/>
            <a:ext cx="11338560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C6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F3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28816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Calibri"/>
              </a:rPr>
              <a:t>Pivoine &amp; Lilas  ·  Sciez / Léman  ·  Dimitri Jaille &amp; Mattieu Mouroux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56032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C6288"/>
                </a:solidFill>
                <a:latin typeface="Calibri"/>
              </a:rPr>
              <a:t>DATABASE ERD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A2A30"/>
                </a:solidFill>
                <a:latin typeface="Calibri"/>
              </a:rPr>
              <a:t>Cardinalities, PKs, FKs, money</a:t>
            </a:r>
          </a:p>
        </p:txBody>
      </p:sp>
      <p:pic>
        <p:nvPicPr>
          <p:cNvPr id="8" name="Picture 7" descr="e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005840"/>
            <a:ext cx="502920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C6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F3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28816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Calibri"/>
              </a:rPr>
              <a:t>Pivoine &amp; Lilas  ·  Sciez / Léman  ·  Dimitri Jaille &amp; Mattieu Mouroux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56032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C6288"/>
                </a:solidFill>
                <a:latin typeface="Calibri"/>
              </a:rPr>
              <a:t>UML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A2A30"/>
                </a:solidFill>
                <a:latin typeface="Calibri"/>
              </a:rPr>
              <a:t>Use cases + domain classes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09728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A2A30"/>
                </a:solidFill>
                <a:latin typeface="Calibri"/>
              </a:defRPr>
            </a:pPr>
            <a:r>
              <a:t>Actors: Guest (browse/pay as guest) · Customer (JWT, track, delete account) · Florist (CRUD, vitrine, FAC, prep).</a:t>
            </a:r>
          </a:p>
          <a:p>
            <a:pPr>
              <a:spcAft>
                <a:spcPts val="800"/>
              </a:spcAft>
              <a:defRPr sz="1700">
                <a:solidFill>
                  <a:srgbClr val="3A2A30"/>
                </a:solidFill>
                <a:latin typeface="Calibri"/>
              </a:defRPr>
            </a:pPr>
            <a:r>
              <a:t>Classes: User, Category, Product, Order, OrderItem, ShopTheme, ThemeProduct, ShopVitrine.</a:t>
            </a:r>
          </a:p>
          <a:p>
            <a:pPr>
              <a:spcAft>
                <a:spcPts val="800"/>
              </a:spcAft>
              <a:defRPr sz="1700">
                <a:solidFill>
                  <a:srgbClr val="3A2A30"/>
                </a:solidFill>
                <a:latin typeface="Calibri"/>
              </a:defRPr>
            </a:pPr>
            <a:r>
              <a:t>User 1—* Order · Category 1—* Product · Order 1—* OrderItem · Theme *—* Product.</a:t>
            </a:r>
          </a:p>
          <a:p>
            <a:pPr>
              <a:spcAft>
                <a:spcPts val="800"/>
              </a:spcAft>
              <a:defRPr sz="1700">
                <a:solidFill>
                  <a:srgbClr val="3A2A30"/>
                </a:solidFill>
                <a:latin typeface="Calibri"/>
              </a:defRPr>
            </a:pPr>
            <a:r>
              <a:t>Open live: User.check_password (Werkzeug + bcrypt, plaintext refused) and checkout_service.build_order_lines.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C6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F3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28816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Calibri"/>
              </a:rPr>
              <a:t>Pivoine &amp; Lilas  ·  Sciez / Léman  ·  Dimitri Jaille &amp; Mattieu Mouroux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56032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C6288"/>
                </a:solidFill>
                <a:latin typeface="Calibri"/>
              </a:rPr>
              <a:t>SEQUENCE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A2A30"/>
                </a:solidFill>
                <a:latin typeface="Calibri"/>
              </a:rPr>
              <a:t>Marie pays with 4242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09728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A2A30"/>
                </a:solidFill>
                <a:latin typeface="Calibri"/>
              </a:defRPr>
            </a:pPr>
            <a:r>
              <a:t>1. Checkout submits email, card, items[{product_id, quantity}] — no price field trusted.</a:t>
            </a:r>
          </a:p>
          <a:p>
            <a:pPr>
              <a:spcAft>
                <a:spcPts val="800"/>
              </a:spcAft>
              <a:defRPr sz="1700">
                <a:solidFill>
                  <a:srgbClr val="3A2A30"/>
                </a:solidFill>
                <a:latin typeface="Calibri"/>
              </a:defRPr>
            </a:pPr>
            <a:r>
              <a:t>2. POST /api/v1/payments/checkout  ·  JWT optional (logged-in email overwrites the body).</a:t>
            </a:r>
          </a:p>
          <a:p>
            <a:pPr>
              <a:spcAft>
                <a:spcPts val="800"/>
              </a:spcAft>
              <a:defRPr sz="1700">
                <a:solidFill>
                  <a:srgbClr val="3A2A30"/>
                </a:solidFill>
                <a:latin typeface="Calibri"/>
              </a:defRPr>
            </a:pPr>
            <a:r>
              <a:t>3. SQL SELECT Product.price  →  Decimal total  →  Luhn test card.</a:t>
            </a:r>
          </a:p>
          <a:p>
            <a:pPr>
              <a:spcAft>
                <a:spcPts val="800"/>
              </a:spcAft>
              <a:defRPr sz="1700">
                <a:solidFill>
                  <a:srgbClr val="3A2A30"/>
                </a:solidFill>
                <a:latin typeface="Calibri"/>
              </a:defRPr>
            </a:pPr>
            <a:r>
              <a:t>4. 4242 INSERT order paid + prep a_preparer · 0002 → 402 failed, no atelier.</a:t>
            </a:r>
          </a:p>
          <a:p>
            <a:pPr>
              <a:spcAft>
                <a:spcPts val="800"/>
              </a:spcAft>
              <a:defRPr sz="1700">
                <a:solidFill>
                  <a:srgbClr val="3A2A30"/>
                </a:solidFill>
                <a:latin typeface="Calibri"/>
              </a:defRPr>
            </a:pPr>
            <a:r>
              <a:t>5. 201 JSON without Stripe PI  ·  UI → commandes.html#order-id  ·  florist sees FAC.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C6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F3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28816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Calibri"/>
              </a:rPr>
              <a:t>Pivoine &amp; Lilas  ·  Sciez / Léman  ·  Dimitri Jaille &amp; Mattieu Mouroux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56032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C6288"/>
                </a:solidFill>
                <a:latin typeface="Calibri"/>
              </a:rPr>
              <a:t>SECURITY NFR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A2A30"/>
                </a:solidFill>
                <a:latin typeface="Calibri"/>
              </a:rPr>
              <a:t>What we implemented, what we still owe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09728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A2A30"/>
                </a:solidFill>
                <a:latin typeface="Calibri"/>
              </a:defRPr>
            </a:pPr>
            <a:r>
              <a:t>SQLi: ORM + bound params. Hashing: PBKDF2 + bcrypt verify. Plaintext compare = false.</a:t>
            </a:r>
          </a:p>
          <a:p>
            <a:pPr>
              <a:spcAft>
                <a:spcPts val="800"/>
              </a:spcAft>
              <a:defRPr sz="1600">
                <a:solidFill>
                  <a:srgbClr val="3A2A30"/>
                </a:solidFill>
                <a:latin typeface="Calibri"/>
              </a:defRPr>
            </a:pPr>
            <a:r>
              <a:t>JWT in Bearer; is_admin from the users table; placeholder SECRET_KEY refused.</a:t>
            </a:r>
          </a:p>
          <a:p>
            <a:pPr>
              <a:spcAft>
                <a:spcPts val="800"/>
              </a:spcAft>
              <a:defRPr sz="1600">
                <a:solidFill>
                  <a:srgbClr val="3A2A30"/>
                </a:solidFill>
                <a:latin typeface="Calibri"/>
              </a:defRPr>
            </a:pPr>
            <a:r>
              <a:t>IDOR: orders owner/admin; confirm-payment owner; spoofed checkout email ignored.</a:t>
            </a:r>
          </a:p>
          <a:p>
            <a:pPr>
              <a:spcAft>
                <a:spcPts val="800"/>
              </a:spcAft>
              <a:defRPr sz="1600">
                <a:solidFill>
                  <a:srgbClr val="3A2A30"/>
                </a:solidFill>
                <a:latin typeface="Calibri"/>
              </a:defRPr>
            </a:pPr>
            <a:r>
              <a:t>XSS: escapeHtml; #rrggbb colours only. Uploads admin, type allow-list, 4 MB.</a:t>
            </a:r>
          </a:p>
          <a:p>
            <a:pPr>
              <a:spcAft>
                <a:spcPts val="800"/>
              </a:spcAft>
              <a:defRPr sz="1600">
                <a:solidFill>
                  <a:srgbClr val="3A2A30"/>
                </a:solidFill>
                <a:latin typeface="Calibri"/>
              </a:defRPr>
            </a:pPr>
            <a:r>
              <a:t>TLS: localhost HTTP for class; production must be HTTPS. No PAN. .env not in Git.</a:t>
            </a:r>
          </a:p>
          <a:p>
            <a:pPr>
              <a:spcAft>
                <a:spcPts val="800"/>
              </a:spcAft>
              <a:defRPr sz="1600">
                <a:solidFill>
                  <a:srgbClr val="3A2A30"/>
                </a:solidFill>
                <a:latin typeface="Calibri"/>
              </a:defRPr>
            </a:pPr>
            <a:r>
              <a:t>CNIL gap: no brute-force lockout, no customer password-change form, no mail verify — listed.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C6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F3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28816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Calibri"/>
              </a:rPr>
              <a:t>Pivoine &amp; Lilas  ·  Sciez / Léman  ·  Dimitri Jaille &amp; Mattieu Mouroux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56032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C6288"/>
                </a:solidFill>
                <a:latin typeface="Calibri"/>
              </a:rPr>
              <a:t>COLLABORATION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A2A30"/>
                </a:solidFill>
                <a:latin typeface="Calibri"/>
              </a:rPr>
              <a:t>GitHub flow, board,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09728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A2A30"/>
                </a:solidFill>
                <a:latin typeface="Calibri"/>
              </a:defRPr>
            </a:pPr>
            <a:r>
              <a:t>main = demo. Feature branch → tests → PR → merge. Commits in English, imperative.</a:t>
            </a:r>
          </a:p>
          <a:p>
            <a:pPr>
              <a:spcAft>
                <a:spcPts val="800"/>
              </a:spcAft>
              <a:defRPr sz="1700">
                <a:solidFill>
                  <a:srgbClr val="3A2A30"/>
                </a:solidFill>
                <a:latin typeface="Calibri"/>
              </a:defRPr>
            </a:pPr>
            <a:r>
              <a:t>Board columns: Backlog / In progress / Review / Done (PRs + spec cards US-01…).</a:t>
            </a:r>
          </a:p>
          <a:p>
            <a:pPr>
              <a:spcAft>
                <a:spcPts val="800"/>
              </a:spcAft>
              <a:defRPr sz="1700">
                <a:solidFill>
                  <a:srgbClr val="3A2A30"/>
                </a:solidFill>
                <a:latin typeface="Calibri"/>
              </a:defRPr>
            </a:pPr>
            <a:r>
              <a:t>Review: no secrets, story matches, responsive if UI, tests updated.</a:t>
            </a:r>
          </a:p>
          <a:p>
            <a:pPr>
              <a:spcAft>
                <a:spcPts val="800"/>
              </a:spcAft>
              <a:defRPr sz="1700">
                <a:solidFill>
                  <a:srgbClr val="3A2A30"/>
                </a:solidFill>
                <a:latin typeface="Calibri"/>
              </a:defRPr>
            </a:pPr>
            <a:r>
              <a:t>Evidence to open: GitHub history, docs/test-evidence, docs/screenshots, Swagger /api/v1.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C6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F3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28816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Calibri"/>
              </a:rPr>
              <a:t>Pivoine &amp; Lilas  ·  Sciez / Léman  ·  Dimitri Jaille &amp; Mattieu Mouroux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56032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C6288"/>
                </a:solidFill>
                <a:latin typeface="Calibri"/>
              </a:rPr>
              <a:t>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A2A30"/>
                </a:solidFill>
                <a:latin typeface="Calibri"/>
              </a:rPr>
              <a:t>80 tests OK — auth, money, IDOR, vitrine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09728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A2A30"/>
                </a:solidFill>
                <a:latin typeface="Calibri"/>
              </a:defRPr>
            </a:pPr>
            <a:r>
              <a:t>unittest + Flask test_client + sqlite://  ·  ./run-tests.sh  ·  coverage on app.</a:t>
            </a:r>
          </a:p>
          <a:p>
            <a:pPr>
              <a:spcAft>
                <a:spcPts val="800"/>
              </a:spcAft>
              <a:defRPr sz="1700">
                <a:solidFill>
                  <a:srgbClr val="3A2A30"/>
                </a:solidFill>
                <a:latin typeface="Calibri"/>
              </a:defRPr>
            </a:pPr>
            <a:r>
              <a:t>Covered: hashing, demo seed, admin vs Marie, uploads, checkout 4242/0002/9995, deposit, tracking, combo vitrine, forged JWT, PI rejected on checkout.</a:t>
            </a:r>
          </a:p>
          <a:p>
            <a:pPr>
              <a:spcAft>
                <a:spcPts val="800"/>
              </a:spcAft>
              <a:defRPr sz="1700">
                <a:solidFill>
                  <a:srgbClr val="3A2A30"/>
                </a:solidFill>
                <a:latin typeface="Calibri"/>
              </a:defRPr>
            </a:pPr>
            <a:r>
              <a:t>Not covered: Playwright e2e, live Stripe network, email, load.</a:t>
            </a:r>
          </a:p>
          <a:p>
            <a:pPr>
              <a:spcAft>
                <a:spcPts val="800"/>
              </a:spcAft>
              <a:defRPr sz="1700">
                <a:solidFill>
                  <a:srgbClr val="3A2A30"/>
                </a:solidFill>
                <a:latin typeface="Calibri"/>
              </a:defRPr>
            </a:pPr>
            <a:r>
              <a:t>Manual M1–M10 in docs/testing.md. Bugs we found are in the spec, with Fixed/Open.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C6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F3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28816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Calibri"/>
              </a:rPr>
              <a:t>Pivoine &amp; Lilas  ·  Sciez / Léman  ·  Dimitri Jaille &amp; Mattieu Mouroux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56032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C6288"/>
                </a:solidFill>
                <a:latin typeface="Calibri"/>
              </a:rPr>
              <a:t>CHALLENGES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A2A30"/>
                </a:solidFill>
                <a:latin typeface="Calibri"/>
              </a:rPr>
              <a:t>Technical and non-technical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097280"/>
          <a:ext cx="114300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627017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Challenge</a:t>
                      </a:r>
                    </a:p>
                  </a:txBody>
                  <a:tcPr>
                    <a:solidFill>
                      <a:srgbClr val="BC62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Kind</a:t>
                      </a:r>
                    </a:p>
                  </a:txBody>
                  <a:tcPr>
                    <a:solidFill>
                      <a:srgbClr val="BC62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Resolution</a:t>
                      </a:r>
                    </a:p>
                  </a:txBody>
                  <a:tcPr>
                    <a:solidFill>
                      <a:srgbClr val="BC6288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A30"/>
                          </a:solidFill>
                          <a:latin typeface="Calibri"/>
                        </a:defRPr>
                      </a:pPr>
                      <a:r>
                        <a:t>Cart identity / empty checkout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A30"/>
                          </a:solidFill>
                          <a:latin typeface="Calibri"/>
                        </a:defRPr>
                      </a:pPr>
                      <a:r>
                        <a:t>Tech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A30"/>
                          </a:solidFill>
                          <a:latin typeface="Calibri"/>
                        </a:defRPr>
                      </a:pPr>
                      <a:r>
                        <a:t>FloraCart + snapshot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A30"/>
                          </a:solidFill>
                          <a:latin typeface="Calibri"/>
                        </a:defRPr>
                      </a:pPr>
                      <a:r>
                        <a:t>Mixed password hashes</a:t>
                      </a:r>
                    </a:p>
                  </a:txBody>
                  <a:tcPr>
                    <a:solidFill>
                      <a:srgbClr val="F8F5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A30"/>
                          </a:solidFill>
                          <a:latin typeface="Calibri"/>
                        </a:defRPr>
                      </a:pPr>
                      <a:r>
                        <a:t>Tech</a:t>
                      </a:r>
                    </a:p>
                  </a:txBody>
                  <a:tcPr>
                    <a:solidFill>
                      <a:srgbClr val="F8F5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A30"/>
                          </a:solidFill>
                          <a:latin typeface="Calibri"/>
                        </a:defRPr>
                      </a:pPr>
                      <a:r>
                        <a:t>Werkzeug + bcrypt; plaintext refused</a:t>
                      </a:r>
                    </a:p>
                  </a:txBody>
                  <a:tcPr>
                    <a:solidFill>
                      <a:srgbClr val="F8F5F2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A30"/>
                          </a:solidFill>
                          <a:latin typeface="Calibri"/>
                        </a:defRPr>
                      </a:pPr>
                      <a:r>
                        <a:t>No Stripe keys in 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A30"/>
                          </a:solidFill>
                          <a:latin typeface="Calibri"/>
                        </a:defRPr>
                      </a:pPr>
                      <a:r>
                        <a:t>Tech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A30"/>
                          </a:solidFill>
                          <a:latin typeface="Calibri"/>
                        </a:defRPr>
                      </a:pPr>
                      <a:r>
                        <a:t>Test cards when env empty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A30"/>
                          </a:solidFill>
                          <a:latin typeface="Calibri"/>
                        </a:defRPr>
                      </a:pPr>
                      <a:r>
                        <a:t>float euros</a:t>
                      </a:r>
                    </a:p>
                  </a:txBody>
                  <a:tcPr>
                    <a:solidFill>
                      <a:srgbClr val="F8F5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A30"/>
                          </a:solidFill>
                          <a:latin typeface="Calibri"/>
                        </a:defRPr>
                      </a:pPr>
                      <a:r>
                        <a:t>Tech</a:t>
                      </a:r>
                    </a:p>
                  </a:txBody>
                  <a:tcPr>
                    <a:solidFill>
                      <a:srgbClr val="F8F5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A30"/>
                          </a:solidFill>
                          <a:latin typeface="Calibri"/>
                        </a:defRPr>
                      </a:pPr>
                      <a:r>
                        <a:t>Decimal + Numeric(10,2)</a:t>
                      </a:r>
                    </a:p>
                  </a:txBody>
                  <a:tcPr>
                    <a:solidFill>
                      <a:srgbClr val="F8F5F2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A30"/>
                          </a:solidFill>
                          <a:latin typeface="Calibri"/>
                        </a:defRPr>
                      </a:pPr>
                      <a:r>
                        <a:t>Rebuild all of Wix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A30"/>
                          </a:solidFill>
                          <a:latin typeface="Calibri"/>
                        </a:defRPr>
                      </a:pPr>
                      <a:r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A30"/>
                          </a:solidFill>
                          <a:latin typeface="Calibri"/>
                        </a:defRPr>
                      </a:pPr>
                      <a:r>
                        <a:t>Cut CMS/geo/email; keep purchase</a:t>
                      </a:r>
                    </a:p>
                  </a:txBody>
                  <a:tcPr/>
                </a:tc>
              </a:tr>
              <a:tr h="62701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A30"/>
                          </a:solidFill>
                          <a:latin typeface="Calibri"/>
                        </a:defRPr>
                      </a:pPr>
                      <a:r>
                        <a:t>20 minutes including demo</a:t>
                      </a:r>
                    </a:p>
                  </a:txBody>
                  <a:tcPr>
                    <a:solidFill>
                      <a:srgbClr val="F8F5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A30"/>
                          </a:solidFill>
                          <a:latin typeface="Calibri"/>
                        </a:defRPr>
                      </a:pPr>
                      <a:r>
                        <a:t>Org</a:t>
                      </a:r>
                    </a:p>
                  </a:txBody>
                  <a:tcPr>
                    <a:solidFill>
                      <a:srgbClr val="F8F5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A30"/>
                          </a:solidFill>
                          <a:latin typeface="Calibri"/>
                        </a:defRPr>
                      </a:pPr>
                      <a:r>
                        <a:t>Timed Marie story; skip decline if late</a:t>
                      </a:r>
                    </a:p>
                  </a:txBody>
                  <a:tcPr>
                    <a:solidFill>
                      <a:srgbClr val="F8F5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C6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F3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28816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Calibri"/>
              </a:rPr>
              <a:t>Pivoine &amp; Lilas  ·  Sciez / Léman  ·  Dimitri Jaille &amp; Mattieu Mouroux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56032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C6288"/>
                </a:solidFill>
                <a:latin typeface="Calibri"/>
              </a:rPr>
              <a:t>NEXT &amp; LEARNED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A2A30"/>
                </a:solidFill>
                <a:latin typeface="Calibri"/>
              </a:rPr>
              <a:t>Operations next, not another stylesheet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143000"/>
            <a:ext cx="55778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BC62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1216152"/>
            <a:ext cx="5394959" cy="4645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BC6288"/>
                </a:solidFill>
                <a:latin typeface="Calibri"/>
              </a:rPr>
              <a:t>Improve</a:t>
            </a:r>
          </a:p>
          <a:p>
            <a:pPr>
              <a:defRPr sz="1200">
                <a:solidFill>
                  <a:srgbClr val="3A2A30"/>
                </a:solidFill>
                <a:latin typeface="Calibri"/>
              </a:defRPr>
            </a:pPr>
            <a:r>
              <a:t>Server-side cart</a:t>
            </a:r>
          </a:p>
          <a:p>
            <a:pPr>
              <a:defRPr sz="1200">
                <a:solidFill>
                  <a:srgbClr val="3A2A30"/>
                </a:solidFill>
                <a:latin typeface="Calibri"/>
              </a:defRPr>
            </a:pPr>
            <a:r>
              <a:t>Click-and-collect + zones</a:t>
            </a:r>
          </a:p>
          <a:p>
            <a:pPr>
              <a:defRPr sz="1200">
                <a:solidFill>
                  <a:srgbClr val="3A2A30"/>
                </a:solidFill>
                <a:latin typeface="Calibri"/>
              </a:defRPr>
            </a:pPr>
            <a:r>
              <a:t>Real email / CNIL lockout</a:t>
            </a:r>
          </a:p>
          <a:p>
            <a:pPr>
              <a:defRPr sz="1200">
                <a:solidFill>
                  <a:srgbClr val="3A2A30"/>
                </a:solidFill>
                <a:latin typeface="Calibri"/>
              </a:defRPr>
            </a:pPr>
            <a:r>
              <a:t>Hosted HTTPS + recorded backup</a:t>
            </a:r>
          </a:p>
          <a:p>
            <a:pPr>
              <a:defRPr sz="1200">
                <a:solidFill>
                  <a:srgbClr val="3A2A30"/>
                </a:solidFill>
                <a:latin typeface="Calibri"/>
              </a:defRPr>
            </a:pPr>
            <a:r>
              <a:t>Playwright + Postgres in CI</a:t>
            </a:r>
          </a:p>
          <a:p>
            <a:pPr>
              <a:defRPr sz="1200">
                <a:solidFill>
                  <a:srgbClr val="3A2A30"/>
                </a:solidFill>
                <a:latin typeface="Calibri"/>
              </a:defRPr>
            </a:pPr>
            <a:r>
              <a:t>Optional HT/TVA if CGV completed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143000"/>
            <a:ext cx="55778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BC62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81928" y="1216152"/>
            <a:ext cx="5394959" cy="4645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BC6288"/>
                </a:solidFill>
                <a:latin typeface="Calibri"/>
              </a:rPr>
              <a:t>Learned</a:t>
            </a:r>
          </a:p>
          <a:p>
            <a:pPr>
              <a:defRPr sz="1200">
                <a:solidFill>
                  <a:srgbClr val="3A2A30"/>
                </a:solidFill>
                <a:latin typeface="Calibri"/>
              </a:defRPr>
            </a:pPr>
            <a:r>
              <a:t>Never trust a browser price</a:t>
            </a:r>
          </a:p>
          <a:p>
            <a:pPr>
              <a:defRPr sz="1200">
                <a:solidFill>
                  <a:srgbClr val="3A2A30"/>
                </a:solidFill>
                <a:latin typeface="Calibri"/>
              </a:defRPr>
            </a:pPr>
            <a:r>
              <a:t>Decimals for money</a:t>
            </a:r>
          </a:p>
          <a:p>
            <a:pPr>
              <a:defRPr sz="1200">
                <a:solidFill>
                  <a:srgbClr val="3A2A30"/>
                </a:solidFill>
                <a:latin typeface="Calibri"/>
              </a:defRPr>
            </a:pPr>
            <a:r>
              <a:t>Legacy hashes or Marie locks</a:t>
            </a:r>
          </a:p>
          <a:p>
            <a:pPr>
              <a:defRPr sz="1200">
                <a:solidFill>
                  <a:srgbClr val="3A2A30"/>
                </a:solidFill>
                <a:latin typeface="Calibri"/>
              </a:defRPr>
            </a:pPr>
            <a:r>
              <a:t>Empty Stripe must not crash</a:t>
            </a:r>
          </a:p>
          <a:p>
            <a:pPr>
              <a:defRPr sz="1200">
                <a:solidFill>
                  <a:srgbClr val="3A2A30"/>
                </a:solidFill>
                <a:latin typeface="Calibri"/>
              </a:defRPr>
            </a:pPr>
            <a:r>
              <a:t>Secrets stay out of Git</a:t>
            </a:r>
          </a:p>
          <a:p>
            <a:pPr>
              <a:defRPr sz="1200">
                <a:solidFill>
                  <a:srgbClr val="3A2A30"/>
                </a:solidFill>
                <a:latin typeface="Calibri"/>
              </a:defRPr>
            </a:pPr>
            <a:r>
              <a:t>A demo is a story, not a click tour</a:t>
            </a:r>
          </a:p>
          <a:p>
            <a:pPr>
              <a:defRPr sz="1200">
                <a:solidFill>
                  <a:srgbClr val="3A2A30"/>
                </a:solidFill>
                <a:latin typeface="Calibri"/>
              </a:defRPr>
            </a:pPr>
            <a:r>
              <a:t>Missing stories must be listed</a:t>
            </a:r>
          </a:p>
          <a:p>
            <a:pPr>
              <a:defRPr sz="1200">
                <a:solidFill>
                  <a:srgbClr val="3A2A30"/>
                </a:solidFill>
                <a:latin typeface="Calibri"/>
              </a:defRPr>
            </a:pPr>
            <a:r>
              <a:t>Each of us can explain the shared checkout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C6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F3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28816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Calibri"/>
              </a:rPr>
              <a:t>Pivoine &amp; Lilas  ·  Sciez / Léman  ·  Dimitri Jaille &amp; Mattieu Mouroux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56032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C6288"/>
                </a:solidFill>
                <a:latin typeface="Calibri"/>
              </a:rPr>
              <a:t>LIVE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A2A30"/>
                </a:solidFill>
                <a:latin typeface="Calibri"/>
              </a:rPr>
              <a:t>Friday 23:00 — Marie forgot her mother’s birthday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51560"/>
          <a:ext cx="1152144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3840480"/>
                <a:gridCol w="3840480"/>
              </a:tblGrid>
              <a:tr h="58293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Beat</a:t>
                      </a:r>
                    </a:p>
                  </a:txBody>
                  <a:tcPr>
                    <a:solidFill>
                      <a:srgbClr val="BC62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On screen</a:t>
                      </a:r>
                    </a:p>
                  </a:txBody>
                  <a:tcPr>
                    <a:solidFill>
                      <a:srgbClr val="BC62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happens</a:t>
                      </a:r>
                    </a:p>
                  </a:txBody>
                  <a:tcPr>
                    <a:solidFill>
                      <a:srgbClr val="BC6288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A30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A30"/>
                          </a:solidFill>
                          <a:latin typeface="Calibri"/>
                        </a:defRPr>
                      </a:pPr>
                      <a:r>
                        <a:t>Home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A30"/>
                          </a:solidFill>
                          <a:latin typeface="Calibri"/>
                        </a:defRPr>
                      </a:pPr>
                      <a:r>
                        <a:t>Boutique open online. Street shop is dark.</a:t>
                      </a:r>
                    </a:p>
                  </a:txBody>
                  <a:tcPr/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A30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8F5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A30"/>
                          </a:solidFill>
                          <a:latin typeface="Calibri"/>
                        </a:defRPr>
                      </a:pPr>
                      <a:r>
                        <a:t>Admin vitrine</a:t>
                      </a:r>
                    </a:p>
                  </a:txBody>
                  <a:tcPr>
                    <a:solidFill>
                      <a:srgbClr val="F8F5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A30"/>
                          </a:solidFill>
                          <a:latin typeface="Calibri"/>
                        </a:defRPr>
                      </a:pPr>
                      <a:r>
                        <a:t>Camille applies Printemps + Mariage. Shop follows.</a:t>
                      </a:r>
                    </a:p>
                  </a:txBody>
                  <a:tcPr>
                    <a:solidFill>
                      <a:srgbClr val="F8F5F2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A30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A30"/>
                          </a:solidFill>
                          <a:latin typeface="Calibri"/>
                        </a:defRPr>
                      </a:pPr>
                      <a:r>
                        <a:t>Shop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A30"/>
                          </a:solidFill>
                          <a:latin typeface="Calibri"/>
                        </a:defRPr>
                      </a:pPr>
                      <a:r>
                        <a:t>Marie filters, adds Bouquet Pivoine (photo).</a:t>
                      </a:r>
                    </a:p>
                  </a:txBody>
                  <a:tcPr/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A30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8F5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A30"/>
                          </a:solidFill>
                          <a:latin typeface="Calibri"/>
                        </a:defRPr>
                      </a:pPr>
                      <a:r>
                        <a:t>Account</a:t>
                      </a:r>
                    </a:p>
                  </a:txBody>
                  <a:tcPr>
                    <a:solidFill>
                      <a:srgbClr val="F8F5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A30"/>
                          </a:solidFill>
                          <a:latin typeface="Calibri"/>
                        </a:defRPr>
                      </a:pPr>
                      <a:r>
                        <a:t>marie@test.com / marie123. Cart is hers.</a:t>
                      </a:r>
                    </a:p>
                  </a:txBody>
                  <a:tcPr>
                    <a:solidFill>
                      <a:srgbClr val="F8F5F2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A30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A30"/>
                          </a:solidFill>
                          <a:latin typeface="Calibri"/>
                        </a:defRPr>
                      </a:pPr>
                      <a:r>
                        <a:t>Checkout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A30"/>
                          </a:solidFill>
                          <a:latin typeface="Calibri"/>
                        </a:defRPr>
                      </a:pPr>
                      <a:r>
                        <a:t>4242. Server total. Payée + À préparer.</a:t>
                      </a:r>
                    </a:p>
                  </a:txBody>
                  <a:tcPr/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A30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8F5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A30"/>
                          </a:solidFill>
                          <a:latin typeface="Calibri"/>
                        </a:defRPr>
                      </a:pPr>
                      <a:r>
                        <a:t>Mes commandes</a:t>
                      </a:r>
                    </a:p>
                  </a:txBody>
                  <a:tcPr>
                    <a:solidFill>
                      <a:srgbClr val="F8F5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A30"/>
                          </a:solidFill>
                          <a:latin typeface="Calibri"/>
                        </a:defRPr>
                      </a:pPr>
                      <a:r>
                        <a:t>Detail, last4, stepper read-only.</a:t>
                      </a:r>
                    </a:p>
                  </a:txBody>
                  <a:tcPr>
                    <a:solidFill>
                      <a:srgbClr val="F8F5F2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A30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A30"/>
                          </a:solidFill>
                          <a:latin typeface="Calibri"/>
                        </a:defRPr>
                      </a:pPr>
                      <a:r>
                        <a:t>Facture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A30"/>
                          </a:solidFill>
                          <a:latin typeface="Calibri"/>
                        </a:defRPr>
                      </a:pPr>
                      <a:r>
                        <a:t>Camille: FAC, TTC lines, Imprimer, prep → Remise.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C6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F3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28816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Calibri"/>
              </a:rPr>
              <a:t>Pivoine &amp; Lilas  ·  Sciez / Léman  ·  Dimitri Jaille &amp; Mattieu Mouroux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56032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C6288"/>
                </a:solidFill>
                <a:latin typeface="Calibri"/>
              </a:rPr>
              <a:t>MAQUETTE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A2A30"/>
                </a:solidFill>
                <a:latin typeface="Calibri"/>
              </a:rPr>
              <a:t>Desktop — palette, accueil, shop, paiement</a:t>
            </a:r>
          </a:p>
        </p:txBody>
      </p:sp>
      <p:pic>
        <p:nvPicPr>
          <p:cNvPr id="8" name="Picture 7" descr="mockup-palet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0"/>
            <a:ext cx="2743200" cy="39776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0040" y="5120640"/>
            <a:ext cx="2743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BC6288"/>
                </a:solidFill>
                <a:latin typeface="Calibri"/>
              </a:rPr>
              <a:t>Système visuel</a:t>
            </a:r>
          </a:p>
        </p:txBody>
      </p:sp>
      <p:pic>
        <p:nvPicPr>
          <p:cNvPr id="10" name="Picture 9" descr="mockup-accue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1097280"/>
            <a:ext cx="2743200" cy="39776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46120" y="5120640"/>
            <a:ext cx="2743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BC6288"/>
                </a:solidFill>
                <a:latin typeface="Calibri"/>
              </a:rPr>
              <a:t>Accueil</a:t>
            </a:r>
          </a:p>
        </p:txBody>
      </p:sp>
      <p:pic>
        <p:nvPicPr>
          <p:cNvPr id="12" name="Picture 11" descr="mockup-sh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097280"/>
            <a:ext cx="2743200" cy="397763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172200" y="5120640"/>
            <a:ext cx="2743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BC6288"/>
                </a:solidFill>
                <a:latin typeface="Calibri"/>
              </a:rPr>
              <a:t>Shop</a:t>
            </a:r>
          </a:p>
        </p:txBody>
      </p:sp>
      <p:pic>
        <p:nvPicPr>
          <p:cNvPr id="14" name="Picture 13" descr="mockup-checkou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8280" y="1097280"/>
            <a:ext cx="2743200" cy="397763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098280" y="5120640"/>
            <a:ext cx="2743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BC6288"/>
                </a:solidFill>
                <a:latin typeface="Calibri"/>
              </a:rPr>
              <a:t>Paiement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C6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F3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28816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Calibri"/>
              </a:rPr>
              <a:t>Pivoine &amp; Lilas  ·  Sciez / Léman  ·  Dimitri Jaille &amp; Mattieu Mouroux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56032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C6288"/>
                </a:solidFill>
                <a:latin typeface="Calibri"/>
              </a:rPr>
              <a:t>MAQUETTE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A2A30"/>
                </a:solidFill>
                <a:latin typeface="Calibri"/>
              </a:rPr>
              <a:t>Panier, commandes, admin FAC, mobile</a:t>
            </a:r>
          </a:p>
        </p:txBody>
      </p:sp>
      <p:pic>
        <p:nvPicPr>
          <p:cNvPr id="8" name="Picture 7" descr="mockup-pan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0"/>
            <a:ext cx="2743200" cy="39776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0040" y="5120640"/>
            <a:ext cx="2743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BC6288"/>
                </a:solidFill>
                <a:latin typeface="Calibri"/>
              </a:rPr>
              <a:t>Panier</a:t>
            </a:r>
          </a:p>
        </p:txBody>
      </p:sp>
      <p:pic>
        <p:nvPicPr>
          <p:cNvPr id="10" name="Picture 9" descr="mockup-command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1097280"/>
            <a:ext cx="2743200" cy="39776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46120" y="5120640"/>
            <a:ext cx="2743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BC6288"/>
                </a:solidFill>
                <a:latin typeface="Calibri"/>
              </a:rPr>
              <a:t>Mes commandes</a:t>
            </a:r>
          </a:p>
        </p:txBody>
      </p:sp>
      <p:pic>
        <p:nvPicPr>
          <p:cNvPr id="12" name="Picture 11" descr="mockup-admin-fa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097280"/>
            <a:ext cx="2743200" cy="397763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172200" y="5120640"/>
            <a:ext cx="2743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BC6288"/>
                </a:solidFill>
                <a:latin typeface="Calibri"/>
              </a:rPr>
              <a:t>Facture FAC</a:t>
            </a:r>
          </a:p>
        </p:txBody>
      </p:sp>
      <p:pic>
        <p:nvPicPr>
          <p:cNvPr id="14" name="Picture 13" descr="mockup-shop-mob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9720" y="1051560"/>
            <a:ext cx="2606040" cy="46177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189720" y="5687568"/>
            <a:ext cx="2606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BC6288"/>
                </a:solidFill>
                <a:latin typeface="Calibri"/>
              </a:rPr>
              <a:t>Shop mobile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C6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F3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28816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Calibri"/>
              </a:rPr>
              <a:t>Pivoine &amp; Lilas  ·  Sciez / Léman  ·  Dimitri Jaille &amp; Mattieu Mouroux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56032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C6288"/>
                </a:solidFill>
                <a:latin typeface="Calibri"/>
              </a:rPr>
              <a:t>MAQUETTE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A2A30"/>
                </a:solidFill>
                <a:latin typeface="Calibri"/>
              </a:rPr>
              <a:t>Connexion, vitrine admin, panier vide</a:t>
            </a:r>
          </a:p>
        </p:txBody>
      </p:sp>
      <p:pic>
        <p:nvPicPr>
          <p:cNvPr id="8" name="Picture 7" descr="mockup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3383280" cy="4023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5166360"/>
            <a:ext cx="3383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BC6288"/>
                </a:solidFill>
                <a:latin typeface="Calibri"/>
              </a:rPr>
              <a:t>Connexion</a:t>
            </a:r>
          </a:p>
        </p:txBody>
      </p:sp>
      <p:pic>
        <p:nvPicPr>
          <p:cNvPr id="10" name="Picture 9" descr="mockup-admin-vitr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1097280"/>
            <a:ext cx="3383280" cy="40233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160520" y="5166360"/>
            <a:ext cx="3383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BC6288"/>
                </a:solidFill>
                <a:latin typeface="Calibri"/>
              </a:rPr>
              <a:t>Vitrine admin</a:t>
            </a:r>
          </a:p>
        </p:txBody>
      </p:sp>
      <p:pic>
        <p:nvPicPr>
          <p:cNvPr id="12" name="Picture 11" descr="mockup-panier-vide-mob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79" y="1097280"/>
            <a:ext cx="3017520" cy="4572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955279" y="5687568"/>
            <a:ext cx="3017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BC6288"/>
                </a:solidFill>
                <a:latin typeface="Calibri"/>
              </a:rPr>
              <a:t>Panier vide mobile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C6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F3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28816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Calibri"/>
              </a:rPr>
              <a:t>Pivoine &amp; Lilas  ·  Sciez / Léman  ·  Dimitri Jaille &amp; Mattieu Mouroux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56032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C6288"/>
                </a:solidFill>
                <a:latin typeface="Calibri"/>
              </a:rP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A2A30"/>
                </a:solidFill>
                <a:latin typeface="Calibri"/>
              </a:rPr>
              <a:t>A florist shop that takes money and can be explained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09728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A2A30"/>
                </a:solidFill>
                <a:latin typeface="Calibri"/>
              </a:defRPr>
            </a:pPr>
            <a:r>
              <a:t>A customer can sign in, buy a photographed bouquet, pay or leave a deposit, subscribe, and track.</a:t>
            </a:r>
          </a:p>
          <a:p>
            <a:pPr>
              <a:spcAft>
                <a:spcPts val="800"/>
              </a:spcAft>
              <a:defRPr sz="1800">
                <a:solidFill>
                  <a:srgbClr val="3A2A30"/>
                </a:solidFill>
                <a:latin typeface="Calibri"/>
              </a:defRPr>
            </a:pPr>
            <a:r>
              <a:t>The florist manages catalog, vitrine, and a printable TTC invoice — not a fake 20 % TVA.</a:t>
            </a:r>
          </a:p>
          <a:p>
            <a:pPr>
              <a:spcAft>
                <a:spcPts val="800"/>
              </a:spcAft>
              <a:defRPr sz="1800">
                <a:solidFill>
                  <a:srgbClr val="3A2A30"/>
                </a:solidFill>
                <a:latin typeface="Calibri"/>
              </a:defRPr>
            </a:pPr>
            <a:r>
              <a:t>Gaps from the original Wix spec are written down. 80 tests. Secrets stay out of Git.</a:t>
            </a:r>
          </a:p>
          <a:p>
            <a:pPr>
              <a:spcAft>
                <a:spcPts val="800"/>
              </a:spcAft>
              <a:defRPr sz="1800">
                <a:solidFill>
                  <a:srgbClr val="3A2A30"/>
                </a:solidFill>
                <a:latin typeface="Calibri"/>
              </a:defRPr>
            </a:pPr>
            <a:r>
              <a:t>Next slice: operations (delivery, email, hosting), not another visual pass.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C6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7F3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28816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Calibri"/>
              </a:rPr>
              <a:t>Pivoine &amp; Lilas  ·  Sciez / Léman  ·  Dimitri Jaille &amp; Mattieu Mouroux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BC6288"/>
                </a:solidFill>
              </a:rPr>
              <a:t>Fin. Merci.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6C4A58"/>
                </a:solidFill>
              </a:rPr>
              <a:t>Pivoine &amp; Lilas — Sciez / Léman
marie@test.com / marie123   ·   admin@florashop.com / admin123   ·   4242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