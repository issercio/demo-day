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6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F3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28816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Pivoine &amp; Lilas  ·  Sciez / Léman  ·  Dimitri Jaille &amp; Mattieu Mouroux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BC6288"/>
                </a:solidFill>
              </a:rPr>
              <a:t>FLORIST  ·  SCIEZ / LÉMAN  ·  DEMO 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3A2A30"/>
                </a:solidFill>
              </a:rPr>
              <a:t>Pivoine &amp; Lilas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6C4A58"/>
                </a:solidFill>
              </a:rPr>
              <a:t>The boutique that still sells after closing time.
Dimitri Jaille &amp; Mattieu Mouroux  ·  Flask, JWT, Decimal checkout, printable invoices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6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F3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28816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Pivoine &amp; Lilas  ·  Sciez / Léman  ·  Dimitri Jaille &amp; Mattieu Mouroux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C6288"/>
                </a:solidFill>
                <a:latin typeface="Calibri"/>
              </a:rPr>
              <a:t>0. IDENTITY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48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A2A30"/>
                </a:solidFill>
                <a:latin typeface="Calibri"/>
              </a:rPr>
              <a:t>Team, roles, decisions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143000"/>
          <a:ext cx="113385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9520"/>
                <a:gridCol w="3779520"/>
                <a:gridCol w="3779520"/>
              </a:tblGrid>
              <a:tr h="48768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Name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Owns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Dimitri Jaille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Backend lead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API, SQLAlchemy, JWT, checkout, tests, security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Mattieu Mouroux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Frontend &amp; Demo Day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Jinja/CSS/JS, stories, deck, live demo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2834640"/>
            <a:ext cx="11338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Calibri"/>
              </a:defRPr>
            </a:pPr>
            <a:r>
              <a:t>Communication: GitHub commits/PRs every day; 15–30 min sync before each demo.</a:t>
            </a:r>
          </a:p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Calibri"/>
              </a:defRPr>
            </a:pPr>
            <a:r>
              <a:t>Decisions: Mattieu on UI copy; Dimitri on money/auth. Cuts (email, geo, HT/TVA) are written as missing stories — never hidden.</a:t>
            </a:r>
          </a:p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Calibri"/>
              </a:defRPr>
            </a:pPr>
            <a:r>
              <a:t>Evidence: github.com/Issercio/Demo-day · branch main · ./run-tests.sh (80 tests).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6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F3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28816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Pivoine &amp; Lilas  ·  Sciez / Léman  ·  Dimitri Jaille &amp; Mattieu Mouroux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C6288"/>
                </a:solidFill>
                <a:latin typeface="Calibri"/>
              </a:rPr>
              <a:t>1.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48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A2A30"/>
                </a:solidFill>
                <a:latin typeface="Calibri"/>
              </a:rPr>
              <a:t>Who suffers, and how we know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097280"/>
            <a:ext cx="11338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Problem: the Sciez shop still sold after 19:00, but the Wix site was a brochure — no cart, no pay, no catalog the florist could update.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Users: Marie (last-minute birthday), Léa (subscription), Camille the florist (atelier + vitrine).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Pain: phone orders without line items; Instagram instead of a catalog; shared demo carts; no workshop status.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Evidence: Wix observation, classroom bugs we actually fixed (empty checkout, bcrypt Marie, client prices), Interflora already takes cards after hours.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6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F3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28816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Pivoine &amp; Lilas  ·  Sciez / Léman  ·  Dimitri Jaille &amp; Mattieu Mouroux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C6288"/>
                </a:solidFill>
                <a:latin typeface="Calibri"/>
              </a:rPr>
              <a:t>2.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48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A2A30"/>
                </a:solidFill>
                <a:latin typeface="Calibri"/>
              </a:rPr>
              <a:t>One shop, server-owned prices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097280"/>
            <a:ext cx="11338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Responsive Flask shop: catalog with photos, private cart, checkout, 30 % deposit, subscriptions, Mes commandes.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Florist desk: CRUD + photo upload, season/event vitrine combo, FAC invoices, prep À préparer → Remise.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Value: buy after closing time; florist sees payment and the atelier; Demo Day runs without Stripe secrets (4242).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MVP boundary: a paid photographed bouquet + a florist invoice. Not in MVP: email, geo, click-and-collect, fiscal HT/TVA.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6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F3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28816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Pivoine &amp; Lilas  ·  Sciez / Léman  ·  Dimitri Jaille &amp; Mattieu Mouroux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C6288"/>
                </a:solidFill>
                <a:latin typeface="Calibri"/>
              </a:rPr>
              <a:t>TECHNOLOGIES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48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A2A30"/>
                </a:solidFill>
                <a:latin typeface="Calibri"/>
              </a:rPr>
              <a:t>Choices we can defend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143000"/>
            <a:ext cx="3657600" cy="2103120"/>
          </a:xfrm>
          <a:prstGeom prst="roundRect">
            <a:avLst/>
          </a:prstGeom>
          <a:solidFill>
            <a:srgbClr val="F8F5F2"/>
          </a:solidFill>
          <a:ln>
            <a:solidFill>
              <a:srgbClr val="BC6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216152"/>
            <a:ext cx="3474720" cy="199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BC6288"/>
                </a:solidFill>
                <a:latin typeface="Calibri"/>
              </a:rPr>
              <a:t>Frontend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Jinja2 + vanilla JS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Custom CSS (florist pink)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localStorage cart per account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1143000"/>
            <a:ext cx="3657600" cy="2103120"/>
          </a:xfrm>
          <a:prstGeom prst="roundRect">
            <a:avLst/>
          </a:prstGeom>
          <a:solidFill>
            <a:srgbClr val="F8F5F2"/>
          </a:solidFill>
          <a:ln>
            <a:solidFill>
              <a:srgbClr val="BC6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15968" y="1216152"/>
            <a:ext cx="3474720" cy="199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BC6288"/>
                </a:solidFill>
                <a:latin typeface="Calibri"/>
              </a:rPr>
              <a:t>Backend / API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Flask 3 + RESTX Swagger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SQLAlchemy 2 Numeric money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JWT HS256, roles from DB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143000"/>
            <a:ext cx="3657600" cy="2103120"/>
          </a:xfrm>
          <a:prstGeom prst="roundRect">
            <a:avLst/>
          </a:prstGeom>
          <a:solidFill>
            <a:srgbClr val="F8F5F2"/>
          </a:solidFill>
          <a:ln>
            <a:solidFill>
              <a:srgbClr val="BC6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6448" y="1216152"/>
            <a:ext cx="3474720" cy="199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BC6288"/>
                </a:solidFill>
                <a:latin typeface="Calibri"/>
              </a:rPr>
              <a:t>Payments / extra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Test cards or Stripe API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Photos on disk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unittest + coverage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3429000"/>
            <a:ext cx="11338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Calibri"/>
              </a:defRPr>
            </a:pPr>
            <a:r>
              <a:t>Why not React: two people, one process, 20-minute demo. Why SQLite: classroom machines. Why Decimal: euros are not floats.</a:t>
            </a:r>
          </a:p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Calibri"/>
              </a:defRPr>
            </a:pPr>
            <a:r>
              <a:t>External API: Stripe PaymentIntent when keys exist. Empty keys → documented test PANs (mandatory “external service” without live charges).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6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F3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28816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Pivoine &amp; Lilas  ·  Sciez / Léman  ·  Dimitri Jaille &amp; Mattieu Mouroux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C6288"/>
                </a:solidFill>
                <a:latin typeface="Calibri"/>
              </a:rPr>
              <a:t>USER STORIES — SHIPPED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48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A2A30"/>
                </a:solidFill>
                <a:latin typeface="Calibri"/>
              </a:rPr>
              <a:t>Must / Should / Could that actually run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097280"/>
          <a:ext cx="1133856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9520"/>
                <a:gridCol w="3779520"/>
                <a:gridCol w="3779520"/>
              </a:tblGrid>
              <a:tr h="48768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Story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Prio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Customer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Register, login, logout, JWT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Must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Customer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Browse photos, filter colour/price/name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Must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Customer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Cart isolated per account + pay (4242 / deposit)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Must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Customer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Track order on Mes commandes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Should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Customer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Subscribe Éclat Mensuel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Should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Florist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CRUD catalog + upload photo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Must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Florist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Vitrine season / theme / combo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Could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Florist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Printable FAC invoice + atelier prep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Must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6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F3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28816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Pivoine &amp; Lilas  ·  Sciez / Léman  ·  Dimitri Jaille &amp; Mattieu Mouroux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C6288"/>
                </a:solidFill>
                <a:latin typeface="Calibri"/>
              </a:rPr>
              <a:t>MISSING ON 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48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A2A30"/>
                </a:solidFill>
                <a:latin typeface="Calibri"/>
              </a:rPr>
              <a:t>Specified, not shipped — not defects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09728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57150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Story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Why cut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Today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Email verification / reset 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No mail provider in 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UI pages only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Password change by customer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PUT /users is admin-only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Hash exists, no form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Click-and-collect slot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Time-box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Paid order, no window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Delivery zones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No geo table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Not modelled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Homepage CMS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Vitrine is the shop window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accueil is a template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HT + TVA invoice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CGV has no VAT regime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TTC demo FAC only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Reviews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Model leftover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API not mounted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6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F3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28816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Pivoine &amp; Lilas  ·  Sciez / Léman  ·  Dimitri Jaille &amp; Mattieu Mouroux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C6288"/>
                </a:solidFill>
                <a:latin typeface="Calibri"/>
              </a:rPr>
              <a:t>MOSCOW / MVP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48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A2A30"/>
                </a:solidFill>
                <a:latin typeface="Calibri"/>
              </a:rPr>
              <a:t>If everything is Must, nothing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097280"/>
            <a:ext cx="11338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Must: auth, catalog+photos, isolated cart, server checkout, admin guard, florist invoice/prep.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Should: subscriptions, 30 % deposit, Mes commandes, shop filters.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Could: vitrine combos, custom event themes, optional Stripe, print window.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Won’t: native app, chat, AI, 2FA, OAuth, email, geo, fiscal TVA.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MVP green: Marie pays for Bouquet Pivoine; Camille opens FAC-YYYY-NNNN and moves À préparer.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6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F3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28816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Pivoine &amp; Lilas  ·  Sciez / Léman  ·  Dimitri Jaille &amp; Mattieu Mouroux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C6288"/>
                </a:solidFill>
                <a:latin typeface="Calibri"/>
              </a:rPr>
              <a:t>BUGS AND 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48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A2A30"/>
                </a:solidFill>
                <a:latin typeface="Calibri"/>
              </a:rPr>
              <a:t>Nothing that blocks a purchase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143000"/>
            <a:ext cx="55778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BC6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" y="1216152"/>
            <a:ext cx="5394959" cy="4645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BC6288"/>
                </a:solidFill>
                <a:latin typeface="Calibri"/>
              </a:rPr>
              <a:t>Fixed (tests + demo)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Empty checkout after per-user carts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Marie locked out by bcrypt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Cart leaked between accounts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Checkout trusted browser prices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float money → Numeric / Decimal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Navbar covering content / profile stretch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Season picker on accueil → admin vitrine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Stolen PI on public checkout rejected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XSS tester index.html gone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43000"/>
            <a:ext cx="55778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BC6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81928" y="1216152"/>
            <a:ext cx="5394959" cy="4645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BC6288"/>
                </a:solidFill>
                <a:latin typeface="Calibri"/>
              </a:rPr>
              <a:t>Open (honest)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No email send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Reviews API unmounted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Cart in localStorage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Unused prices table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No production host / TLS in repo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JWT in localStorage (XSS residual)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No login rate-limit (CNIL gap)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Coverage diluted by leftovers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Invoices are TTC demo docs, not tax invoices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6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F3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28816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Pivoine &amp; Lilas  ·  Sciez / Léman  ·  Dimitri Jaille &amp; Mattieu Mouroux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C6288"/>
                </a:solidFill>
                <a:latin typeface="Calibri"/>
              </a:rPr>
              <a:t>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48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A2A30"/>
                </a:solidFill>
                <a:latin typeface="Calibri"/>
              </a:rPr>
              <a:t>The browser displays. The server owns the price.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143000"/>
            <a:ext cx="274320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BC6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216152"/>
            <a:ext cx="2560320" cy="2176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BC6288"/>
                </a:solidFill>
                <a:latin typeface="Calibri"/>
              </a:rPr>
              <a:t>1. Browser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Jinja pages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api.js / FloraCart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Bearer JSON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1143000"/>
            <a:ext cx="274320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BC6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55848" y="1216152"/>
            <a:ext cx="2560320" cy="2176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BC6288"/>
                </a:solidFill>
                <a:latin typeface="Calibri"/>
              </a:rPr>
              <a:t>2. Flask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REST /api/v1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checkout_service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JWT + DB is_admin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143000"/>
            <a:ext cx="274320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BC6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6208" y="1216152"/>
            <a:ext cx="2560320" cy="2176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BC6288"/>
                </a:solidFill>
                <a:latin typeface="Calibri"/>
              </a:rPr>
              <a:t>3. Data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SQLite / Postgres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Numeric(10,2)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static photos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143000"/>
            <a:ext cx="274320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BC6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16567" y="1216152"/>
            <a:ext cx="2560320" cy="2176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BC6288"/>
                </a:solidFill>
                <a:latin typeface="Calibri"/>
              </a:rPr>
              <a:t>4. Pay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Test cards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or Stripe HTTPS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orders paid/deposit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657600"/>
            <a:ext cx="11338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Calibri"/>
              </a:defRPr>
            </a:pPr>
            <a:r>
              <a:t>Flow: HTTPS/HTTP JSON → Flask → SQL. Optional Stripe api.stripe.com. Backup = florashop.db or managed PostgreSQL.</a:t>
            </a:r>
          </a:p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Calibri"/>
              </a:defRPr>
            </a:pPr>
            <a:r>
              <a:t>POST /payments/checkout never uses a client price. payment_intent_id is refused here (owner JWT → /confirm-payment).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6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F3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28816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Pivoine &amp; Lilas  ·  Sciez / Léman  ·  Dimitri Jaille &amp; Mattieu Mouroux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C6288"/>
                </a:solidFill>
                <a:latin typeface="Calibri"/>
              </a:rPr>
              <a:t>DATABASE ERD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48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A2A30"/>
                </a:solidFill>
                <a:latin typeface="Calibri"/>
              </a:rPr>
              <a:t>Cardinalities, PKs, FKs, money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097280"/>
          <a:ext cx="11430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70104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Table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PK / FK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Rule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id · email unique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hash only · is_admin default false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categories → products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category_id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price Numeric · color #rrggbb · image path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orders → order_items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user_id nullable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deposit, status, prep, card_last4, no PAN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shop_themes ↔ products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theme_products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vitrine one row season_id + theme_id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reviews*, prices*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leftovers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not on the purchase path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6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F3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28816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Pivoine &amp; Lilas  ·  Sciez / Léman  ·  Dimitri Jaille &amp; Mattieu Mouroux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C6288"/>
                </a:solidFill>
                <a:latin typeface="Calibri"/>
              </a:rPr>
              <a:t>UML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48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A2A30"/>
                </a:solidFill>
                <a:latin typeface="Calibri"/>
              </a:rPr>
              <a:t>Use cases + domain classes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097280"/>
            <a:ext cx="11338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Actors: Guest (browse/pay as guest) · Customer (JWT, track, delete account) · Florist (CRUD, vitrine, FAC, prep).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Classes: User, Category, Product, Order, OrderItem, ShopTheme, ThemeProduct, ShopVitrine.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User 1—* Order · Category 1—* Product · Order 1—* OrderItem · Theme *—* Product.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Open live: User.check_password (Werkzeug + bcrypt, plaintext refused) and checkout_service.build_order_lines.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6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F3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28816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Pivoine &amp; Lilas  ·  Sciez / Léman  ·  Dimitri Jaille &amp; Mattieu Mouroux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C6288"/>
                </a:solidFill>
                <a:latin typeface="Calibri"/>
              </a:rPr>
              <a:t>SEQUENCE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48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A2A30"/>
                </a:solidFill>
                <a:latin typeface="Calibri"/>
              </a:rPr>
              <a:t>Marie pays with 4242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097280"/>
            <a:ext cx="11338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1. Checkout submits email, card, items[{product_id, quantity}] — no price field trusted.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2. POST /api/v1/payments/checkout  ·  JWT optional (logged-in email overwrites the body).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3. SQL SELECT Product.price  →  Decimal total  →  Luhn test card.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4. 4242 INSERT order paid + prep a_preparer · 0002 → 402 failed, no atelier.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5. 201 JSON without Stripe PI  ·  UI → commandes.html#order-id  ·  florist sees FAC.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6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F3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28816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Pivoine &amp; Lilas  ·  Sciez / Léman  ·  Dimitri Jaille &amp; Mattieu Mouroux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C6288"/>
                </a:solidFill>
                <a:latin typeface="Calibri"/>
              </a:rPr>
              <a:t>SECURITY NFR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48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A2A30"/>
                </a:solidFill>
                <a:latin typeface="Calibri"/>
              </a:rPr>
              <a:t>What we implemented, what we still owe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097280"/>
            <a:ext cx="11338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Calibri"/>
              </a:defRPr>
            </a:pPr>
            <a:r>
              <a:t>SQLi: ORM + bound params. Hashing: PBKDF2 + bcrypt verify. Plaintext compare = false.</a:t>
            </a:r>
          </a:p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Calibri"/>
              </a:defRPr>
            </a:pPr>
            <a:r>
              <a:t>JWT in Bearer; is_admin from the users table; placeholder SECRET_KEY refused.</a:t>
            </a:r>
          </a:p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Calibri"/>
              </a:defRPr>
            </a:pPr>
            <a:r>
              <a:t>IDOR: orders owner/admin; confirm-payment owner; spoofed checkout email ignored.</a:t>
            </a:r>
          </a:p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Calibri"/>
              </a:defRPr>
            </a:pPr>
            <a:r>
              <a:t>XSS: escapeHtml; #rrggbb colours only. Uploads admin, type allow-list, 4 MB.</a:t>
            </a:r>
          </a:p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Calibri"/>
              </a:defRPr>
            </a:pPr>
            <a:r>
              <a:t>TLS: localhost HTTP for class; production must be HTTPS. No PAN. .env not in Git.</a:t>
            </a:r>
          </a:p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Calibri"/>
              </a:defRPr>
            </a:pPr>
            <a:r>
              <a:t>CNIL gap: no brute-force lockout, no customer password-change form, no mail verify — listed.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6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F3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28816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Pivoine &amp; Lilas  ·  Sciez / Léman  ·  Dimitri Jaille &amp; Mattieu Mouroux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C6288"/>
                </a:solidFill>
                <a:latin typeface="Calibri"/>
              </a:rPr>
              <a:t>COLLABORATION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48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A2A30"/>
                </a:solidFill>
                <a:latin typeface="Calibri"/>
              </a:rPr>
              <a:t>GitHub flow, board,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097280"/>
            <a:ext cx="11338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main = demo. Feature branch → tests → PR → merge. Commits in English, imperative.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Board columns: Backlog / In progress / Review / Done (PRs + spec cards US-01…).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Review: no secrets, story matches, responsive if UI, tests updated.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Evidence to open: GitHub history, docs/test-evidence, docs/screenshots, Swagger /api/v1.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6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F3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28816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Pivoine &amp; Lilas  ·  Sciez / Léman  ·  Dimitri Jaille &amp; Mattieu Mouroux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C6288"/>
                </a:solidFill>
                <a:latin typeface="Calibri"/>
              </a:rPr>
              <a:t>TESTING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48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A2A30"/>
                </a:solidFill>
                <a:latin typeface="Calibri"/>
              </a:rPr>
              <a:t>80 tests OK — auth, money, IDOR, vitrine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097280"/>
            <a:ext cx="11338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unittest + Flask test_client + sqlite://  ·  ./run-tests.sh  ·  coverage on app.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Covered: hashing, demo seed, admin vs Marie, uploads, checkout 4242/0002/9995, deposit, tracking, combo vitrine, forged JWT, PI rejected on checkout.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Not covered: Playwright e2e, live Stripe network, email, load.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Calibri"/>
              </a:defRPr>
            </a:pPr>
            <a:r>
              <a:t>Manual M1–M10 in docs/testing.md. Bugs we found are in the spec, with Fixed/Open.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6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F3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28816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Pivoine &amp; Lilas  ·  Sciez / Léman  ·  Dimitri Jaille &amp; Mattieu Mouroux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C6288"/>
                </a:solidFill>
                <a:latin typeface="Calibri"/>
              </a:rPr>
              <a:t>CHALLENGES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48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A2A30"/>
                </a:solidFill>
                <a:latin typeface="Calibri"/>
              </a:rPr>
              <a:t>Technical and non-technical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097280"/>
          <a:ext cx="114300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627017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Challenge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Kind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Resolution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Cart identity / empty checkout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Tech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FloraCart + snapshot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Mixed password hashes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Tech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Werkzeug + bcrypt; plaintext refused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No Stripe keys in 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Tech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Test cards when env empty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float euros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Tech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Decimal + Numeric(10,2)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Rebuild all of Wix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Cut CMS/geo/email; keep purchase</a:t>
                      </a:r>
                    </a:p>
                  </a:txBody>
                  <a:tcPr/>
                </a:tc>
              </a:tr>
              <a:tr h="62701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20 minutes including demo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Org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Timed Marie story; skip decline if late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6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F3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28816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Pivoine &amp; Lilas  ·  Sciez / Léman  ·  Dimitri Jaille &amp; Mattieu Mouroux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C6288"/>
                </a:solidFill>
                <a:latin typeface="Calibri"/>
              </a:rPr>
              <a:t>NEXT &amp; LEARNED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48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A2A30"/>
                </a:solidFill>
                <a:latin typeface="Calibri"/>
              </a:rPr>
              <a:t>Operations next, not another stylesheet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143000"/>
            <a:ext cx="55778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BC6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" y="1216152"/>
            <a:ext cx="5394959" cy="4645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BC6288"/>
                </a:solidFill>
                <a:latin typeface="Calibri"/>
              </a:rPr>
              <a:t>Improve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Server-side cart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Click-and-collect + zones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Real email / CNIL lockout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Hosted HTTPS + recorded backup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Playwright + Postgres in CI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Optional HT/TVA if CGV completed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43000"/>
            <a:ext cx="55778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BC6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81928" y="1216152"/>
            <a:ext cx="5394959" cy="4645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BC6288"/>
                </a:solidFill>
                <a:latin typeface="Calibri"/>
              </a:rPr>
              <a:t>Learned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Never trust a browser price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Decimals for money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Legacy hashes or Marie locks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Empty Stripe must not crash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Secrets stay out of Git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A demo is a story, not a click tour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Missing stories must be listed</a:t>
            </a:r>
          </a:p>
          <a:p>
            <a:pPr>
              <a:defRPr sz="1200">
                <a:solidFill>
                  <a:srgbClr val="3A2A30"/>
                </a:solidFill>
                <a:latin typeface="Calibri"/>
              </a:defRPr>
            </a:pPr>
            <a:r>
              <a:t>Each of us can explain the shared checkout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6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F3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28816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Pivoine &amp; Lilas  ·  Sciez / Léman  ·  Dimitri Jaille &amp; Mattieu Mouroux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C6288"/>
                </a:solidFill>
                <a:latin typeface="Calibri"/>
              </a:rPr>
              <a:t>LIVE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48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A2A30"/>
                </a:solidFill>
                <a:latin typeface="Calibri"/>
              </a:rPr>
              <a:t>Friday 23:00 — Marie forgot her mother’s birthday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51560"/>
          <a:ext cx="1152144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840480"/>
                <a:gridCol w="3840480"/>
              </a:tblGrid>
              <a:tr h="58293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Beat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On screen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happens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Home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Boutique open online. Street shop is dark.</a:t>
                      </a:r>
                    </a:p>
                  </a:txBody>
                  <a:tcPr/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Admin vitrine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Camille applies Printemps + Mariage. Shop follows.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Shop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Marie filters, adds Bouquet Pivoine (photo).</a:t>
                      </a:r>
                    </a:p>
                  </a:txBody>
                  <a:tcPr/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Account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marie@test.com / marie123. Cart is hers.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Checkout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4242. Server total. Payée + À préparer.</a:t>
                      </a:r>
                    </a:p>
                  </a:txBody>
                  <a:tcPr/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Mes commandes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Detail, last4, stepper read-only.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Facture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2A30"/>
                          </a:solidFill>
                          <a:latin typeface="Calibri"/>
                        </a:defRPr>
                      </a:pPr>
                      <a:r>
                        <a:t>Camille: FAC, TTC lines, Imprimer, prep → Remise.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6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F3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28816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Pivoine &amp; Lilas  ·  Sciez / Léman  ·  Dimitri Jaille &amp; Mattieu Mouroux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C6288"/>
                </a:solidFill>
                <a:latin typeface="Calibri"/>
              </a:rPr>
              <a:t>MOCKUPS = THE LIVE 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48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A2A30"/>
                </a:solidFill>
                <a:latin typeface="Calibri"/>
              </a:rPr>
              <a:t>Same palette, real data</a:t>
            </a:r>
          </a:p>
        </p:txBody>
      </p:sp>
      <p:pic>
        <p:nvPicPr>
          <p:cNvPr id="8" name="Picture 7" descr="accue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2697480" cy="4023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5212080"/>
            <a:ext cx="2697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</a:rPr>
              <a:t>Home</a:t>
            </a:r>
          </a:p>
        </p:txBody>
      </p:sp>
      <p:pic>
        <p:nvPicPr>
          <p:cNvPr id="10" name="Picture 9" descr="sh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1143000"/>
            <a:ext cx="2697480" cy="402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46120" y="5212080"/>
            <a:ext cx="2697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</a:rPr>
              <a:t>Shop</a:t>
            </a:r>
          </a:p>
        </p:txBody>
      </p:sp>
      <p:pic>
        <p:nvPicPr>
          <p:cNvPr id="12" name="Picture 11" descr="checko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143000"/>
            <a:ext cx="2697480" cy="402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26480" y="5212080"/>
            <a:ext cx="2697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</a:rPr>
              <a:t>Checkout</a:t>
            </a:r>
          </a:p>
        </p:txBody>
      </p:sp>
      <p:pic>
        <p:nvPicPr>
          <p:cNvPr id="14" name="Picture 13" descr="admin-ord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0" y="1143000"/>
            <a:ext cx="2697480" cy="402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006840" y="5212080"/>
            <a:ext cx="2697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</a:rPr>
              <a:t>Admin FAC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6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F3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28816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Pivoine &amp; Lilas  ·  Sciez / Léman  ·  Dimitri Jaille &amp; Mattieu Mouroux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1338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C6288"/>
                </a:solidFill>
                <a:latin typeface="Calibri"/>
              </a:rPr>
              <a:t>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488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3A2A30"/>
                </a:solidFill>
                <a:latin typeface="Calibri"/>
              </a:rPr>
              <a:t>A florist shop that takes money and can be explained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097280"/>
            <a:ext cx="11338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Calibri"/>
              </a:defRPr>
            </a:pPr>
            <a:r>
              <a:t>A customer can sign in, buy a photographed bouquet, pay or leave a deposit, subscribe, and track.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Calibri"/>
              </a:defRPr>
            </a:pPr>
            <a:r>
              <a:t>The florist manages catalog, vitrine, and a printable TTC invoice — not a fake 20 % TVA.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Calibri"/>
              </a:defRPr>
            </a:pPr>
            <a:r>
              <a:t>Gaps from the original Wix spec are written down. 80 tests. Secrets stay out of Git.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Calibri"/>
              </a:defRPr>
            </a:pPr>
            <a:r>
              <a:t>Next slice: operations (delivery, email, hosting), not another visual pass.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6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F3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28816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Calibri"/>
              </a:rPr>
              <a:t>Pivoine &amp; Lilas  ·  Sciez / Léman  ·  Dimitri Jaille &amp; Mattieu Mouroux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BC6288"/>
                </a:solidFill>
              </a:rPr>
              <a:t>Fin. Merci.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6C4A58"/>
                </a:solidFill>
              </a:rPr>
              <a:t>Pivoine &amp; Lilas — Sciez / Léman
marie@test.com / marie123   ·   admin@florashop.com / admin123   ·   4242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